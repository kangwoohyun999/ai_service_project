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 autoCompressPictures="0">
  <p:sldMasterIdLst>
    <p:sldMasterId id="2147483654" r:id="rId3"/>
  </p:sldMasterIdLst>
  <p:notesMasterIdLst>
    <p:notesMasterId r:id="rId5"/>
  </p:notesMasterIdLst>
  <p:sldIdLst>
    <p:sldId id="256" r:id="rId7"/>
    <p:sldId id="257" r:id="rId9"/>
    <p:sldId id="258" r:id="rId11"/>
    <p:sldId id="259" r:id="rId12"/>
    <p:sldId id="260" r:id="rId14"/>
    <p:sldId id="261" r:id="rId16"/>
    <p:sldId id="262" r:id="rId18"/>
    <p:sldId id="263" r:id="rId19"/>
    <p:sldId id="264" r:id="rId20"/>
    <p:sldId id="265" r:id="rId22"/>
  </p:sldIdLst>
  <p:notesMasterIdLst/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3" Type="http://schemas.openxmlformats.org/officeDocument/2006/relationships/slideMaster" Target="slideMasters/slideMaster1.xml"></Relationship><Relationship Id="rId4" Type="http://schemas.openxmlformats.org/officeDocument/2006/relationships/theme" Target="theme/theme1.xml"></Relationship><Relationship Id="rId5" Type="http://schemas.openxmlformats.org/officeDocument/2006/relationships/notesMaster" Target="notesMasters/notesMaster1.xml"></Relationship><Relationship Id="rId7" Type="http://schemas.openxmlformats.org/officeDocument/2006/relationships/slide" Target="slides/slide1.xml"></Relationship><Relationship Id="rId9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4" Type="http://schemas.openxmlformats.org/officeDocument/2006/relationships/slide" Target="slides/slide5.xml"></Relationship><Relationship Id="rId16" Type="http://schemas.openxmlformats.org/officeDocument/2006/relationships/slide" Target="slides/slide6.xml"></Relationship><Relationship Id="rId18" Type="http://schemas.openxmlformats.org/officeDocument/2006/relationships/slide" Target="slides/slide7.xml"></Relationship><Relationship Id="rId19" Type="http://schemas.openxmlformats.org/officeDocument/2006/relationships/slide" Target="slides/slide8.xml"></Relationship><Relationship Id="rId20" Type="http://schemas.openxmlformats.org/officeDocument/2006/relationships/slide" Target="slides/slide9.xml"></Relationship><Relationship Id="rId22" Type="http://schemas.openxmlformats.org/officeDocument/2006/relationships/slide" Target="slides/slide10.xml"></Relationship><Relationship Id="rId27" Type="http://schemas.openxmlformats.org/officeDocument/2006/relationships/viewProps" Target="viewProps.xml"></Relationship><Relationship Id="rId28" Type="http://schemas.openxmlformats.org/officeDocument/2006/relationships/presProps" Target="presProps.xml"></Relationship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.xml"></Relationship></Relationships>
</file>

<file path=ppt/notesSlides/_rels/notesSlide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4.xml"></Relationship></Relationships>
</file>

<file path=ppt/notesSlides/_rels/notesSlide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5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7.xml"></Relationship></Relationships>
</file>

<file path=ppt/notesSlides/_rels/notesSlide8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8.xml"></Relationship></Relationships>
</file>

<file path=ppt/notesSlides/_rels/notesSlide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9.xml"></Relationship></Relationships>
</file>

<file path=ppt/notesSlides/_rels/notesSlide1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0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theme" Target="../theme/theme1.xml"></Relationship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notesSlide" Target="../notesSlides/notesSlide2.xml"></Relationship></Relationships>
</file>

<file path=ppt/slides/_rels/slide3.xml.rels><?xml version="1.0" encoding="UTF-8"?>
<Relationships xmlns="http://schemas.openxmlformats.org/package/2006/relationships"><Relationship Id="rId2" Type="http://schemas.openxmlformats.org/officeDocument/2006/relationships/notesSlide" Target="../notesSlides/notesSlide3.xml"></Relationship><Relationship Id="rId3" Type="http://schemas.openxmlformats.org/officeDocument/2006/relationships/slideLayout" Target="../slideLayouts/slideLayout1.xml"></Relationship></Relationships>
</file>

<file path=ppt/slides/_rels/slide4.xml.rels><?xml version="1.0" encoding="UTF-8"?>
<Relationships xmlns="http://schemas.openxmlformats.org/package/2006/relationships"><Relationship Id="rId2" Type="http://schemas.openxmlformats.org/officeDocument/2006/relationships/notesSlide" Target="../notesSlides/notesSlide4.xml"></Relationship><Relationship Id="rId3" Type="http://schemas.openxmlformats.org/officeDocument/2006/relationships/slideLayout" Target="../slideLayouts/slideLayout1.xml"></Relationship></Relationships>
</file>

<file path=ppt/slides/_rels/slide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notesSlide" Target="../notesSlides/notesSlide5.xml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notesSlide" Target="../notesSlides/notesSlide6.xml"></Relationship>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image" Target="../media/image-7-1.png"></Relationship><Relationship Id="rId2" Type="http://schemas.openxmlformats.org/officeDocument/2006/relationships/image" Target="../media/image-7-2.png"></Relationship><Relationship Id="rId4" Type="http://schemas.openxmlformats.org/officeDocument/2006/relationships/notesSlide" Target="../notesSlides/notesSlide7.xml"></Relationship><Relationship Id="rId5" Type="http://schemas.openxmlformats.org/officeDocument/2006/relationships/slideLayout" Target="../slideLayouts/slideLayout1.xml"></Relationship></Relationships>
</file>

<file path=ppt/slides/_rels/slide8.xml.rels><?xml version="1.0" encoding="UTF-8"?>
<Relationships xmlns="http://schemas.openxmlformats.org/package/2006/relationships"><Relationship Id="rId1" Type="http://schemas.openxmlformats.org/officeDocument/2006/relationships/image" Target="../media/image-8-1.png"></Relationship><Relationship Id="rId2" Type="http://schemas.openxmlformats.org/officeDocument/2006/relationships/image" Target="../media/image-8-2.png"></Relationship><Relationship Id="rId4" Type="http://schemas.openxmlformats.org/officeDocument/2006/relationships/notesSlide" Target="../notesSlides/notesSlide8.xml"></Relationship><Relationship Id="rId5" Type="http://schemas.openxmlformats.org/officeDocument/2006/relationships/slideLayout" Target="../slideLayouts/slideLayout1.xml"></Relationship></Relationships>
</file>

<file path=ppt/slides/_rels/slide9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notesSlide" Target="../notesSlides/notesSlide9.xml"></Relationship></Relationships>
</file>

<file path=ppt/slides/_rels/slide10.xml.rels><?xml version="1.0" encoding="UTF-8"?>
<Relationships xmlns="http://schemas.openxmlformats.org/package/2006/relationships"><Relationship Id="rId2" Type="http://schemas.openxmlformats.org/officeDocument/2006/relationships/notesSlide" Target="../notesSlides/notesSlide10.xml"></Relationship><Relationship Id="rId3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1188720"/>
            <a:ext cx="6400800" cy="2743200"/>
          </a:xfrm>
          <a:prstGeom prst="rect">
            <a:avLst/>
          </a:prstGeom>
          <a:ln w="19050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137160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RAGAS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법률 RAG 성능 평가 리포트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28803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Self-RAG 기반 법률 사건 Q&amp;A 챗봇 — Ground Truth 12개 정량 평가</a:t>
            </a:r>
            <a:endParaRPr lang="en-US" sz="1150" dirty="0"/>
          </a:p>
        </p:txBody>
      </p:sp>
      <p:sp>
        <p:nvSpPr>
          <p:cNvPr id="15" name="Text 13"/>
          <p:cNvSpPr>
            <a:spLocks/>
          </p:cNvSpPr>
          <p:nvPr/>
        </p:nvSpPr>
        <p:spPr>
          <a:xfrm rot="0">
            <a:off x="1369695" y="4039870"/>
            <a:ext cx="6393815" cy="347980"/>
          </a:xfrm>
          <a:prstGeom prst="rect"/>
          <a:noFill/>
          <a:ln cap="flat" cmpd="sng"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 algn="r">
              <a:buFontTx/>
              <a:buNone/>
            </a:pPr>
            <a:r>
              <a:rPr lang="en-US" sz="1050" b="1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강우현 · 김준우 · 김정효</a:t>
            </a:r>
            <a:endParaRPr lang="ko-KR" altLang="en-US" sz="1050" b="1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114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2103120" y="1508760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03120" y="1508760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34640" y="1508760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데이터셋 구성 (Ground Truth 12개)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03120" y="2084832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084832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834640" y="2084832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RAGAS 평가 방법론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2660904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2660904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834640" y="2660904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질문별 전체 점수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03120" y="3236976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03120" y="3236976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834640" y="3236976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상세 분석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03120" y="3813048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03120" y="3813048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834640" y="3813048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시각화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103120" y="4389120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03120" y="4389120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834640" y="4389120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방향 및 결론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데이터셋 구성 — Ground Truth 12개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603250"/>
            <a:ext cx="731520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법률 사건 유형별 질문 + 모범 정답 + RAG 답변 + 검색 문맥 4-tuple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960120"/>
            <a:ext cx="43878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960120"/>
            <a:ext cx="43878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960120"/>
            <a:ext cx="395922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960120"/>
            <a:ext cx="395922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(Question)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304482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960120"/>
            <a:ext cx="304482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요약 (Ground Truth)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26680" y="960120"/>
            <a:ext cx="114300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960120"/>
            <a:ext cx="114300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130746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130746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130746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6680" y="130746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130746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130746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교통사고 손해배상 청구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63440" y="130746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보험사에 치료비·위자료 청구, 민사소송 가능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726680" y="130746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28600" y="160909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160909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60909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26680" y="160909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" y="160909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5800" y="160909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전세 보증금 반환 거부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663440" y="160909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임차권등기명령 신청, HUG 보증 활용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726680" y="160909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28600" y="191135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5800" y="1911350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0" y="191135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26680" y="191135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8600" y="191135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5800" y="191135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부당해고 구제 방법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663440" y="191135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3개월 내 노동위원회 구제신청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726680" y="191135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노동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28600" y="2212975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5800" y="2212975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63440" y="2212975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26680" y="2212975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8600" y="221297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5800" y="221297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사기 고소 절차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663440" y="221297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ECRM 온라인 신고, 증거 보전 필수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726680" y="221297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28600" y="251460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>
            <a:spLocks/>
          </p:cNvSpPr>
          <p:nvPr/>
        </p:nvSpPr>
        <p:spPr>
          <a:xfrm rot="0">
            <a:off x="687070" y="2520315"/>
            <a:ext cx="3960495" cy="302895"/>
          </a:xfrm>
          <a:prstGeom prst="rect"/>
          <a:solidFill>
            <a:srgbClr val="E8E8E8"/>
          </a:solidFill>
          <a:ln w="3810" cap="flat" cmpd="sng">
            <a:solidFill>
              <a:srgbClr val="CCCCCC">
                <a:alpha val="100000"/>
              </a:srgbClr>
            </a:solidFill>
            <a:prstDash val="solid"/>
          </a:ln>
        </p:spPr>
        <p:txBody>
          <a:bodyPr wrap="square" lIns="0" tIns="0" rIns="0" bIns="0" numCol="1" vert="horz" anchor="t">
            <a:noAutofit/>
          </a:bodyPr>
          <a:lstStyle/>
          <a:p>
            <a:pPr marL="0" indent="0">
              <a:buFontTx/>
              <a:buNone/>
            </a:pPr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4663440" y="251460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26680" y="251460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8600" y="251460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85800" y="251460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폭행 피해 고소 방법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663440" y="251460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신고, 진단서·증거 확보 후 형사+민사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726680" y="251460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228600" y="2816225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2816225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63440" y="2816225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26680" y="2816225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28600" y="281622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85800" y="281622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불이행 대응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663440" y="281622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내용증명→계약 해제→손해배상 소송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7726680" y="281622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228600" y="311785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85800" y="3117850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63440" y="311785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26680" y="311785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28600" y="311785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85800" y="311785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명예훼손 고소 대응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4663440" y="311785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위법성 조각 사유(공익) 주장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7726680" y="311785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28600" y="342011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342011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663440" y="342011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26680" y="342011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28600" y="342011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85800" y="342011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이혼 재산 분할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663440" y="342011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기여도 기반 분할, 협의/재판상 이혼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7726680" y="342011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가사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228600" y="372173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85800" y="372173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663440" y="372173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726680" y="372173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8600" y="372173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685800" y="372173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임금 체불 법적 조치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63440" y="372173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고용노동부 진정, 형사처벌 가능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726680" y="372173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노동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228600" y="402336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402336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663440" y="402336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726680" y="402336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28600" y="402336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685800" y="402336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유출 대응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4663440" y="402336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개인정보보호위원회 신고, KISA 상담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7726680" y="402336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228600" y="432498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85800" y="432498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663440" y="432498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26680" y="432498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28600" y="432498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85800" y="432498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 법적 보호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4663440" y="432498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스토킹처벌법 — 긴급응급·잠정조치 신청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7726680" y="432498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228600" y="462661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85800" y="462661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663440" y="462661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726680" y="462661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462661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685800" y="462661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 피해 환불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4663440" y="462661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소비자원 분쟁조정, 7일 내 청약철회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7726680" y="462661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RAGAS 평가 방법론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4가지 지표 — LLM 자동 채점, 0~1 점수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질문 + Ground Truth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12개 준비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9456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Text 17"/>
          <p:cNvSpPr>
            <a:spLocks/>
          </p:cNvSpPr>
          <p:nvPr/>
        </p:nvSpPr>
        <p:spPr>
          <a:xfrm rot="0">
            <a:off x="2240280" y="1417320"/>
            <a:ext cx="274955" cy="366395"/>
          </a:xfrm>
          <a:prstGeom prst="rect"/>
          <a:noFill/>
          <a:ln cap="flat" cmpd="sng"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1100">
                <a:solidFill>
                  <a:srgbClr val="AAAAAA"/>
                </a:solidFill>
              </a:rPr>
              <a:t>▶</a:t>
            </a:r>
            <a:endParaRPr lang="ko-KR" altLang="en-US" sz="1100">
              <a:solidFill>
                <a:srgbClr val="AAAAAA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56032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FAISS 벡터DB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검색 (Top-K=4)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1417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GPT-4o-mini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 생성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1417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4944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RAGAS evaluate()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4가지 지표 산출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" y="2468880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" y="2468880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541905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Faithfulness (충실도)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279781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답변이 검색된 법률 문서에 근거하는가?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환각(Hallucination) 방지 핵심 지표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2468880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2468880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541905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Relevancy (답변 관련성)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92040" y="279781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답변이 질문에 얼마나 직접 대응하는가?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불필요한 내용 없이 핵심을 짚었는지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" y="3410585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" y="3410585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483610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(문맥 정밀도)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374015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검색된 청크 중 관련 있는 것이 상위에 있는가?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Ground Truth 기반 랭킹 평가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3410585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3410585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3483610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(문맥 재현율)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92040" y="374015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정답에 필요한 정보가 검색 문맥에 포함됐는가?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Ground Truth 생성에 필요한 정보 커버율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12개 질문별 전체 RAGAS 점수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chunk_size=400 / chunk_overlap=80 / Top-K=4 / GPT-4o-mini / text-embedding-3-large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" y="960120"/>
            <a:ext cx="493776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960120"/>
            <a:ext cx="42976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960120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0" y="960120"/>
            <a:ext cx="978408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9601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35040" y="960120"/>
            <a:ext cx="941832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960120"/>
            <a:ext cx="9418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Ans.Rel.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95160" y="960120"/>
            <a:ext cx="9601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96012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Ctx.Pre.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73568" y="960120"/>
            <a:ext cx="978408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73568" y="9601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Ctx.Rec.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01168" y="130759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3232" y="130759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13075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5040" y="130759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95160" y="130759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73568" y="13075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1168" y="13075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13232" y="13075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교통사고 손해배상 청구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0" y="13075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35040" y="13075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13075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73568" y="13075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01168" y="158191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3232" y="158191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15819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35040" y="158191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95160" y="158191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73568" y="15819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1168" y="15819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13232" y="15819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전세 보증금 반환 거부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29200" y="15819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35040" y="15819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995160" y="15819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973568" y="15819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01168" y="185623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13232" y="185623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029200" y="185623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185623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185623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973568" y="185623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1168" y="185623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13232" y="18562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부당해고 구제 방법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029200" y="18562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035040" y="185623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995160" y="185623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973568" y="18562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01168" y="213055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3232" y="213055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29200" y="213055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213055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995160" y="213055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73568" y="213055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01168" y="213055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13232" y="213055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사기 고소 절차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029200" y="21305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6035040" y="213055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995160" y="21305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0.72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973568" y="21305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0.79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01168" y="240487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13232" y="240487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029200" y="240487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35040" y="240487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95160" y="240487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973568" y="240487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1168" y="240487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13232" y="240487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폭행 피해 고소 방법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5029200" y="24048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035040" y="240487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6995160" y="24048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973568" y="24048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201168" y="267919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13232" y="267919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029200" y="267919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5040" y="267919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995160" y="267919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973568" y="267919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01168" y="26791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713232" y="26791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불이행 대응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5029200" y="26791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6035040" y="26791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6995160" y="26791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0.74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7973568" y="26791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201168" y="295351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3232" y="295351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029200" y="295351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035040" y="295351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95160" y="295351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73568" y="295351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01168" y="29535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713232" y="29535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명예훼손 고소 대응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029200" y="29535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035040" y="29535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6995160" y="29535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0.70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7973568" y="29535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201168" y="322783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13232" y="322783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029200" y="322783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35040" y="322783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995160" y="322783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973568" y="322783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201168" y="322783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713232" y="32278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이혼 재산 분할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5029200" y="32278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6035040" y="322783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6995160" y="322783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7973568" y="32278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201168" y="350215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3232" y="350215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029200" y="350215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035040" y="350215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995160" y="350215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73568" y="350215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01168" y="350215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  <p:sp>
        <p:nvSpPr>
          <p:cNvPr id="131" name="Text 129"/>
          <p:cNvSpPr/>
          <p:nvPr/>
        </p:nvSpPr>
        <p:spPr>
          <a:xfrm>
            <a:off x="713232" y="350215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임금 체불 법적 조치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5029200" y="35021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6035040" y="350215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6995160" y="35021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7973568" y="35021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201168" y="377647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13232" y="377647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029200" y="377647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035040" y="377647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995160" y="377647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973568" y="377647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201168" y="377647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713232" y="377647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유출 대응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5029200" y="37764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45" name="Text 143"/>
          <p:cNvSpPr/>
          <p:nvPr/>
        </p:nvSpPr>
        <p:spPr>
          <a:xfrm>
            <a:off x="6035040" y="377647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146" name="Text 144"/>
          <p:cNvSpPr/>
          <p:nvPr/>
        </p:nvSpPr>
        <p:spPr>
          <a:xfrm>
            <a:off x="6995160" y="37764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</a:t>
            </a:r>
            <a:endParaRPr lang="en-US" sz="900" dirty="0"/>
          </a:p>
        </p:txBody>
      </p:sp>
      <p:sp>
        <p:nvSpPr>
          <p:cNvPr id="147" name="Text 145"/>
          <p:cNvSpPr/>
          <p:nvPr/>
        </p:nvSpPr>
        <p:spPr>
          <a:xfrm>
            <a:off x="7973568" y="37764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201168" y="405079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3232" y="405079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029200" y="40507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6035040" y="405079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6995160" y="405079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973568" y="40507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201168" y="40507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  <p:sp>
        <p:nvSpPr>
          <p:cNvPr id="155" name="Text 153"/>
          <p:cNvSpPr/>
          <p:nvPr/>
        </p:nvSpPr>
        <p:spPr>
          <a:xfrm>
            <a:off x="713232" y="40507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 법적 보호</a:t>
            </a:r>
            <a:endParaRPr lang="en-US" sz="800" dirty="0"/>
          </a:p>
        </p:txBody>
      </p:sp>
      <p:sp>
        <p:nvSpPr>
          <p:cNvPr id="156" name="Text 154"/>
          <p:cNvSpPr/>
          <p:nvPr/>
        </p:nvSpPr>
        <p:spPr>
          <a:xfrm>
            <a:off x="5029200" y="40507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</a:t>
            </a:r>
            <a:endParaRPr lang="en-US" sz="900" dirty="0"/>
          </a:p>
        </p:txBody>
      </p:sp>
      <p:sp>
        <p:nvSpPr>
          <p:cNvPr id="157" name="Text 155"/>
          <p:cNvSpPr/>
          <p:nvPr/>
        </p:nvSpPr>
        <p:spPr>
          <a:xfrm>
            <a:off x="6035040" y="40507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158" name="Text 156"/>
          <p:cNvSpPr/>
          <p:nvPr/>
        </p:nvSpPr>
        <p:spPr>
          <a:xfrm>
            <a:off x="6995160" y="40507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</a:t>
            </a:r>
            <a:endParaRPr lang="en-US" sz="900" dirty="0"/>
          </a:p>
        </p:txBody>
      </p:sp>
      <p:sp>
        <p:nvSpPr>
          <p:cNvPr id="159" name="Text 157"/>
          <p:cNvSpPr/>
          <p:nvPr/>
        </p:nvSpPr>
        <p:spPr>
          <a:xfrm>
            <a:off x="7973568" y="40507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60" name="Shape 158"/>
          <p:cNvSpPr/>
          <p:nvPr/>
        </p:nvSpPr>
        <p:spPr>
          <a:xfrm>
            <a:off x="201168" y="432511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13232" y="432511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029200" y="43251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035040" y="432511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995160" y="432511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973568" y="43251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201168" y="43251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167" name="Text 165"/>
          <p:cNvSpPr/>
          <p:nvPr/>
        </p:nvSpPr>
        <p:spPr>
          <a:xfrm>
            <a:off x="713232" y="43251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 피해 환불</a:t>
            </a:r>
            <a:endParaRPr lang="en-US" sz="800" dirty="0"/>
          </a:p>
        </p:txBody>
      </p:sp>
      <p:sp>
        <p:nvSpPr>
          <p:cNvPr id="168" name="Text 166"/>
          <p:cNvSpPr/>
          <p:nvPr/>
        </p:nvSpPr>
        <p:spPr>
          <a:xfrm>
            <a:off x="5029200" y="43251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69" name="Text 167"/>
          <p:cNvSpPr/>
          <p:nvPr/>
        </p:nvSpPr>
        <p:spPr>
          <a:xfrm>
            <a:off x="6035040" y="43251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170" name="Text 168"/>
          <p:cNvSpPr/>
          <p:nvPr/>
        </p:nvSpPr>
        <p:spPr>
          <a:xfrm>
            <a:off x="6995160" y="43251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</a:t>
            </a:r>
            <a:endParaRPr lang="en-US" sz="900" dirty="0"/>
          </a:p>
        </p:txBody>
      </p:sp>
      <p:sp>
        <p:nvSpPr>
          <p:cNvPr id="171" name="Text 169"/>
          <p:cNvSpPr/>
          <p:nvPr/>
        </p:nvSpPr>
        <p:spPr>
          <a:xfrm>
            <a:off x="7973568" y="43251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</a:t>
            </a:r>
            <a:endParaRPr lang="en-US" sz="900" dirty="0"/>
          </a:p>
        </p:txBody>
      </p:sp>
      <p:sp>
        <p:nvSpPr>
          <p:cNvPr id="172" name="Shape 170"/>
          <p:cNvSpPr/>
          <p:nvPr/>
        </p:nvSpPr>
        <p:spPr>
          <a:xfrm>
            <a:off x="201168" y="4599432"/>
            <a:ext cx="8750808" cy="329184"/>
          </a:xfrm>
          <a:prstGeom prst="rect">
            <a:avLst/>
          </a:prstGeom>
          <a:solidFill>
            <a:srgbClr val="222222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01168" y="4599432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</a:t>
            </a:r>
            <a:endParaRPr lang="en-US" sz="1000" dirty="0"/>
          </a:p>
        </p:txBody>
      </p:sp>
      <p:sp>
        <p:nvSpPr>
          <p:cNvPr id="174" name="Text 172"/>
          <p:cNvSpPr/>
          <p:nvPr/>
        </p:nvSpPr>
        <p:spPr>
          <a:xfrm>
            <a:off x="5029200" y="4599432"/>
            <a:ext cx="978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0.8842</a:t>
            </a:r>
            <a:endParaRPr lang="en-US" sz="1000" dirty="0"/>
          </a:p>
        </p:txBody>
      </p:sp>
      <p:sp>
        <p:nvSpPr>
          <p:cNvPr id="175" name="Text 173"/>
          <p:cNvSpPr/>
          <p:nvPr/>
        </p:nvSpPr>
        <p:spPr>
          <a:xfrm>
            <a:off x="6035040" y="4599432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0.8717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6995160" y="4599432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0.7742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7973568" y="4599432"/>
            <a:ext cx="978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0.8225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지표별 상세 분석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점수 기반 강점·약점 도출 및 원인 분석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914400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18120" y="1005840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18120" y="100584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0.8842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97840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Faithfulness   ★ 우수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126187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Self-RAG Supportiveness 필터가 근거 없는 답변을 제어함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1499616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시스템 프롬프트에 "반드시 문맥만 사용" 명시 → 환각 억제 효과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1901952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901952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18120" y="1993392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199339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0.8717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196596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Relevancy   ★ 우수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2249424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사건 유형 빠른 선택 UI + 명확한 프롬프트 템플릿 적용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248716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질문이 구체적일수록 높은 점수 — Q1·Q4·Q12 상위권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5760" y="2889504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89504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18120" y="2980944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18120" y="2980944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0.7742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29535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  △ 개선여지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3236976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Top-K=4 검색 시 무관 청크 일부 포함, chunk_size=400 다소 큼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8640" y="3474720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→ chunk_size 300 / Top-K 3 축소 시 약 +0.05 예상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3877056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877056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18120" y="3968496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18120" y="3968496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0.8225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48640" y="394106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  ○ 양호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8640" y="422452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청크 오버랩(80) 적용으로 대부분 필요 정보 포함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48640" y="446227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→ overlap 120 증가 및 하이브리드 검색 도입 고려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결과 시각화 (1) — 질문별 전체 점수 &amp; 지표 평균</a:t>
            </a:r>
            <a:endParaRPr lang="en-US" sz="1800" dirty="0"/>
          </a:p>
        </p:txBody>
      </p:sp>
      <p:pic>
        <p:nvPicPr>
          <p:cNvPr id="15" name="Image 0" descr="C:/Users/USER/AppData/Roaming/PolarisOffice/ETemp/13884_12031528/image-7-1.png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3"/>
          <a:stretch>
            <a:fillRect/>
          </a:stretch>
        </p:blipFill>
        <p:spPr>
          <a:xfrm rot="0">
            <a:off x="274320" y="837565"/>
            <a:ext cx="6401435" cy="2226310"/>
          </a:xfrm>
          <a:prstGeom prst="rect"/>
          <a:noFill/>
        </p:spPr>
      </p:pic>
      <p:pic>
        <p:nvPicPr>
          <p:cNvPr id="16" name="Image 1" descr="C:/Users/USER/AppData/Roaming/PolarisOffice/ETemp/13884_12031528/image-7-2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55"/>
          <a:stretch>
            <a:fillRect/>
          </a:stretch>
        </p:blipFill>
        <p:spPr>
          <a:xfrm rot="0">
            <a:off x="6812280" y="844550"/>
            <a:ext cx="2149475" cy="2219325"/>
          </a:xfrm>
          <a:prstGeom prst="rect"/>
          <a:noFill/>
        </p:spPr>
      </p:pic>
      <p:sp>
        <p:nvSpPr>
          <p:cNvPr id="17" name="Shape 13"/>
          <p:cNvSpPr/>
          <p:nvPr/>
        </p:nvSpPr>
        <p:spPr>
          <a:xfrm>
            <a:off x="274320" y="3200400"/>
            <a:ext cx="8595360" cy="20129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74320" y="3200400"/>
            <a:ext cx="8595360" cy="201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0.9+ 우수  |  0.7~0.89 양호  |  0.5~0.69 개선 필요 — Context Precision(0.7742)이 최저, 개선 우선순위 1순위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69875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69875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0.8842</a:t>
            </a:r>
            <a:endParaRPr lang="en-US" sz="3000" dirty="0"/>
          </a:p>
        </p:txBody>
      </p:sp>
      <p:sp>
        <p:nvSpPr>
          <p:cNvPr id="21" name="Text 17"/>
          <p:cNvSpPr/>
          <p:nvPr/>
        </p:nvSpPr>
        <p:spPr>
          <a:xfrm>
            <a:off x="269875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Faithfulness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52755" y="4663440"/>
            <a:ext cx="1536065" cy="10985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52755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437130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437130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0.8717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2437130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Ans.Relevancy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2620010" y="4663440"/>
            <a:ext cx="1514475" cy="109855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2620010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603750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603750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0.7742</a:t>
            </a:r>
            <a:endParaRPr lang="en-US" sz="3000" dirty="0"/>
          </a:p>
        </p:txBody>
      </p:sp>
      <p:sp>
        <p:nvSpPr>
          <p:cNvPr id="31" name="Text 27"/>
          <p:cNvSpPr/>
          <p:nvPr/>
        </p:nvSpPr>
        <p:spPr>
          <a:xfrm>
            <a:off x="4603750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Ctx.Precision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786630" y="4663440"/>
            <a:ext cx="1344930" cy="109855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786630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771005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771005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0.8225</a:t>
            </a:r>
            <a:endParaRPr lang="en-US" sz="3000" dirty="0"/>
          </a:p>
        </p:txBody>
      </p:sp>
      <p:sp>
        <p:nvSpPr>
          <p:cNvPr id="36" name="Text 32"/>
          <p:cNvSpPr/>
          <p:nvPr/>
        </p:nvSpPr>
        <p:spPr>
          <a:xfrm>
            <a:off x="6771005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Ctx.Recall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953885" y="4663440"/>
            <a:ext cx="1428750" cy="109855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953885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39" name="도형 1"/>
          <p:cNvSpPr>
            <a:spLocks/>
          </p:cNvSpPr>
          <p:nvPr/>
        </p:nvSpPr>
        <p:spPr>
          <a:xfrm rot="0">
            <a:off x="2373630" y="636905"/>
            <a:ext cx="2193925" cy="208280"/>
          </a:xfrm>
          <a:prstGeom prst="rect"/>
          <a:noFill/>
          <a:ln cap="flat" cmpd="sng"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▼ 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12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개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 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질문별 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R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agas 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4가지 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지표</a:t>
            </a:r>
            <a:endParaRPr lang="ko-KR" altLang="en-US" sz="800" b="1">
              <a:solidFill>
                <a:schemeClr val="tx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  <p:sp>
        <p:nvSpPr>
          <p:cNvPr id="40" name="도형 2"/>
          <p:cNvSpPr>
            <a:spLocks/>
          </p:cNvSpPr>
          <p:nvPr/>
        </p:nvSpPr>
        <p:spPr>
          <a:xfrm rot="0">
            <a:off x="6786245" y="639445"/>
            <a:ext cx="2193925" cy="208280"/>
          </a:xfrm>
          <a:prstGeom prst="rect"/>
          <a:noFill/>
          <a:ln cap="flat" cmpd="sng"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▼ 질문별 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지표 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평균(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12개 질문</a:t>
            </a: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)</a:t>
            </a:r>
            <a:endParaRPr lang="ko-KR" altLang="en-US" sz="800" b="1">
              <a:solidFill>
                <a:schemeClr val="tx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결과 시각화 (2) — 지표 추이 &amp; 레이더 분석</a:t>
            </a:r>
            <a:endParaRPr lang="en-US" sz="1800" dirty="0"/>
          </a:p>
        </p:txBody>
      </p:sp>
      <p:pic>
        <p:nvPicPr>
          <p:cNvPr id="15" name="Image 0" descr="C:/Users/USER/AppData/Roaming/PolarisOffice/ETemp/13884_12031528/image-8-1.png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77"/>
          <a:stretch>
            <a:fillRect/>
          </a:stretch>
        </p:blipFill>
        <p:spPr>
          <a:xfrm rot="0">
            <a:off x="274320" y="892810"/>
            <a:ext cx="6218555" cy="2125345"/>
          </a:xfrm>
          <a:prstGeom prst="rect"/>
          <a:noFill/>
        </p:spPr>
      </p:pic>
      <p:pic>
        <p:nvPicPr>
          <p:cNvPr id="16" name="Image 1" descr="C:/Users/USER/AppData/Roaming/PolarisOffice/ETemp/13884_12031528/image-8-2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4"/>
          <a:stretch>
            <a:fillRect/>
          </a:stretch>
        </p:blipFill>
        <p:spPr>
          <a:xfrm rot="0">
            <a:off x="6583680" y="775970"/>
            <a:ext cx="2423795" cy="2242185"/>
          </a:xfrm>
          <a:prstGeom prst="rect"/>
          <a:noFill/>
        </p:spPr>
      </p:pic>
      <p:sp>
        <p:nvSpPr>
          <p:cNvPr id="17" name="Shape 13"/>
          <p:cNvSpPr/>
          <p:nvPr/>
        </p:nvSpPr>
        <p:spPr>
          <a:xfrm>
            <a:off x="274320" y="320040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114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Q5 (폭행 고소)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423160" y="3200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Faithfulness 0.94 — 형사 조항 명확해 환각 없음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274320" y="3630295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11480" y="3630295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Q7 (명예훼손)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2423160" y="3630295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 0.70 — 위법성 조각 청크 검색 미흡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274320" y="406019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11480" y="406019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Q4 (온라인사기)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2423160" y="406019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 0.72 — 사이버범죄 청크 분산 문제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74320" y="448945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11480" y="448945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Q6 (계약불이행)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2423160" y="448945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전반적 최하위 — 청크 크기 조정 시 가장 효과적</a:t>
            </a:r>
            <a:endParaRPr lang="en-US" sz="900" dirty="0"/>
          </a:p>
        </p:txBody>
      </p:sp>
      <p:sp>
        <p:nvSpPr>
          <p:cNvPr id="29" name="도형 3"/>
          <p:cNvSpPr>
            <a:spLocks/>
          </p:cNvSpPr>
          <p:nvPr/>
        </p:nvSpPr>
        <p:spPr>
          <a:xfrm rot="0">
            <a:off x="2277745" y="678180"/>
            <a:ext cx="2193925" cy="208280"/>
          </a:xfrm>
          <a:prstGeom prst="rect"/>
          <a:noFill/>
          <a:ln cap="flat" cmpd="sng"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▼ 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질문별 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지표 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추이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 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(Q1~Q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1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2)</a:t>
            </a:r>
            <a:endParaRPr lang="ko-KR" altLang="en-US" sz="800" b="1">
              <a:solidFill>
                <a:schemeClr val="bg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  <p:sp>
        <p:nvSpPr>
          <p:cNvPr id="30" name="도형 4"/>
          <p:cNvSpPr>
            <a:spLocks/>
          </p:cNvSpPr>
          <p:nvPr/>
        </p:nvSpPr>
        <p:spPr>
          <a:xfrm rot="0">
            <a:off x="6689725" y="551180"/>
            <a:ext cx="2193925" cy="208280"/>
          </a:xfrm>
          <a:prstGeom prst="rect"/>
          <a:noFill/>
          <a:ln cap="flat" cmpd="sng"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▼ 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분석 </a:t>
            </a: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결과 시각화</a:t>
            </a:r>
            <a:endParaRPr lang="ko-KR" altLang="en-US" sz="800" b="1">
              <a:solidFill>
                <a:schemeClr val="bg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개선 방향 및 결론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낮은 지표 분석 → 파라미터 조정 → 재평가 목표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960120"/>
            <a:ext cx="4114800" cy="2148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0698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개선 (0.7742)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1463040"/>
            <a:ext cx="374904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27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chunk_size: 400 → 300 축소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Top-K: 4 → 3 줄여 정밀도 향상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모델 교체 검토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679192"/>
            <a:ext cx="3749040" cy="274320"/>
          </a:xfrm>
          <a:prstGeom prst="rect">
            <a:avLst/>
          </a:prstGeom>
          <a:solidFill>
            <a:srgbClr val="2A2A2A"/>
          </a:solidFill>
          <a:ln w="5080">
            <a:solidFill>
              <a:srgbClr val="44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679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목표: 0.83+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960120"/>
            <a:ext cx="4114800" cy="2148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10698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강화 (0.8225)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1463040"/>
            <a:ext cx="374904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1527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chunk_overlap: 80 → 120 증가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하이브리드 검색 (벡터+BM25) 도입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K 수 실험적 조정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37760" y="2679192"/>
            <a:ext cx="3749040" cy="274320"/>
          </a:xfrm>
          <a:prstGeom prst="rect">
            <a:avLst/>
          </a:prstGeom>
          <a:solidFill>
            <a:srgbClr val="2A2A2A"/>
          </a:solidFill>
          <a:ln w="5080">
            <a:solidFill>
              <a:srgbClr val="44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2679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목표: 0.88+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0.8381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7472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지표 평균 — 전반적으로 양호한 성능 확인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432304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32304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523744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Self-RAG 효과 검증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523744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RAG 대비 Faithfulness +0.19, Precision +0.14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08576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08576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700016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최약 지표 식별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00016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Precision(0.7742) — 청크 전략 개선 우선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784848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84848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876288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 목표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76288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후 재평가 → 전 지표 0.85+ 달성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2926080"/>
            <a:ext cx="2926080" cy="29260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0" y="3200400"/>
            <a:ext cx="2468880" cy="24688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3474720"/>
            <a:ext cx="2011680" cy="20116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3749040"/>
            <a:ext cx="1554480" cy="15544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0" y="402336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7" name="Text 15"/>
          <p:cNvSpPr>
            <a:spLocks/>
          </p:cNvSpPr>
          <p:nvPr/>
        </p:nvSpPr>
        <p:spPr>
          <a:xfrm rot="0">
            <a:off x="0" y="2111375"/>
            <a:ext cx="9144635" cy="915035"/>
          </a:xfrm>
          <a:prstGeom prst="rect"/>
          <a:noFill/>
          <a:ln cap="flat" cmpd="sng"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4800" spc="1000" b="1">
                <a:solidFill>
                  <a:srgbClr val="FFFFFF"/>
                </a:solidFill>
                <a:latin typeface="Arial Black" charset="0"/>
                <a:ea typeface="Arial Black" charset="0"/>
                <a:cs typeface="Arial Black" charset="0"/>
              </a:rPr>
              <a:t>THANK YOU</a:t>
            </a:r>
            <a:endParaRPr lang="ko-KR" altLang="en-US" sz="4800" b="1">
              <a:solidFill>
                <a:srgbClr val="FFFFFF"/>
              </a:solidFill>
              <a:latin typeface="Arial Black" charset="0"/>
              <a:ea typeface="Arial Black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Company>PptxGenJS</Company>
  <DocSecurity>0</DocSecurity>
  <HyperlinksChanged>false</HyperlinksChanged>
  <Lines>0</Lines>
  <LinksUpToDate>false</LinksUpToDate>
  <Pages>10</Pages>
  <Paragraphs>0</Paragraphs>
  <Words>0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PptxGenJS</dc:creator>
  <cp:lastModifiedBy>ppssw0419</cp:lastModifiedBy>
  <dc:title>RAGAS 법률 RAG 성능 평가 리포트</dc:title>
  <dc:subject>PptxGenJS Presentation</dc:subject>
  <cp:version>10.105.224.52366</cp:version>
  <dcterms:modified xsi:type="dcterms:W3CDTF">2026-06-04T03:42:23Z</dcterms:modified>
</cp:coreProperties>
</file>