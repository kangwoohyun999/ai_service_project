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swald Bold" charset="1" panose="00000800000000000000"/>
      <p:regular r:id="rId14"/>
    </p:embeddedFont>
    <p:embeddedFont>
      <p:font typeface="DM Sans" charset="1" panose="00000000000000000000"/>
      <p:regular r:id="rId15"/>
    </p:embeddedFont>
    <p:embeddedFont>
      <p:font typeface="Oswald" charset="1" panose="00000500000000000000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  <p:embeddedFont>
      <p:font typeface="DM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659121">
            <a:off x="15091031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258071" y="-4629150"/>
            <a:ext cx="9022634" cy="9258300"/>
          </a:xfrm>
          <a:custGeom>
            <a:avLst/>
            <a:gdLst/>
            <a:ahLst/>
            <a:cxnLst/>
            <a:rect r="r" b="b" t="t" l="l"/>
            <a:pathLst>
              <a:path h="9258300" w="9022634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236347" y="3039068"/>
            <a:ext cx="9815307" cy="4208864"/>
            <a:chOff x="0" y="0"/>
            <a:chExt cx="18954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5495" cy="812800"/>
            </a:xfrm>
            <a:custGeom>
              <a:avLst/>
              <a:gdLst/>
              <a:ahLst/>
              <a:cxnLst/>
              <a:rect r="r" b="b" t="t" l="l"/>
              <a:pathLst>
                <a:path h="812800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812800"/>
                  </a:lnTo>
                  <a:lnTo>
                    <a:pt x="0" y="812800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895495" cy="831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236347" y="3477578"/>
            <a:ext cx="9815307" cy="3236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RAGAS 기반</a:t>
            </a:r>
          </a:p>
          <a:p>
            <a:pPr algn="ctr">
              <a:lnSpc>
                <a:spcPts val="6900"/>
              </a:lnSpc>
            </a:pPr>
            <a:r>
              <a:rPr lang="en-US" b="true" sz="5000" spc="490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RAG 성능 평가</a:t>
            </a:r>
          </a:p>
          <a:p>
            <a:pPr algn="ctr">
              <a:lnSpc>
                <a:spcPts val="6900"/>
              </a:lnSpc>
            </a:pPr>
          </a:p>
          <a:p>
            <a:pPr algn="ctr">
              <a:lnSpc>
                <a:spcPts val="4830"/>
              </a:lnSpc>
            </a:pPr>
            <a:r>
              <a:rPr lang="en-US" b="true" sz="3500" spc="34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SELF-RAG 기반 법률 사건 Q&amp;A 챗봇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236347" y="7629081"/>
            <a:ext cx="9815307" cy="536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416"/>
              </a:lnSpc>
            </a:pPr>
            <a:r>
              <a:rPr lang="en-US" b="true" sz="3200" spc="313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강우현, 김준우, 김정효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-4012602" y="5585714"/>
            <a:ext cx="7629294" cy="7828566"/>
          </a:xfrm>
          <a:custGeom>
            <a:avLst/>
            <a:gdLst/>
            <a:ahLst/>
            <a:cxnLst/>
            <a:rect r="r" b="b" t="t" l="l"/>
            <a:pathLst>
              <a:path h="7828566" w="7629294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80992" y="3556399"/>
            <a:ext cx="1400485" cy="5402009"/>
            <a:chOff x="0" y="0"/>
            <a:chExt cx="368852" cy="142275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852" cy="1422751"/>
            </a:xfrm>
            <a:custGeom>
              <a:avLst/>
              <a:gdLst/>
              <a:ahLst/>
              <a:cxnLst/>
              <a:rect r="r" b="b" t="t" l="l"/>
              <a:pathLst>
                <a:path h="1422751" w="368852">
                  <a:moveTo>
                    <a:pt x="0" y="0"/>
                  </a:moveTo>
                  <a:lnTo>
                    <a:pt x="368852" y="0"/>
                  </a:lnTo>
                  <a:lnTo>
                    <a:pt x="368852" y="1422751"/>
                  </a:lnTo>
                  <a:lnTo>
                    <a:pt x="0" y="1422751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368852" cy="14418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980992" y="1036994"/>
            <a:ext cx="7416941" cy="1683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b="true" sz="9981" spc="97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CONTENT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016048">
            <a:off x="12243487" y="-1005305"/>
            <a:ext cx="10749463" cy="2687366"/>
          </a:xfrm>
          <a:custGeom>
            <a:avLst/>
            <a:gdLst/>
            <a:ahLst/>
            <a:cxnLst/>
            <a:rect r="r" b="b" t="t" l="l"/>
            <a:pathLst>
              <a:path h="2687366" w="10749463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31353" y="4098568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1353" y="4990303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93025" y="5882038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31353" y="6751861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31353" y="7621684"/>
            <a:ext cx="937219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b="true" sz="4271" i="true">
                <a:solidFill>
                  <a:srgbClr val="363636"/>
                </a:solidFill>
                <a:latin typeface="Oswald Bold"/>
                <a:ea typeface="Oswald Bold"/>
                <a:cs typeface="Oswald Bold"/>
                <a:sym typeface="Oswald Bold"/>
              </a:rPr>
              <a:t>05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90926" y="4125619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RAGAS 평가 결과 요약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90926" y="5017354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지표별 분석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590926" y="5909089"/>
            <a:ext cx="5790503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SELF-RAG 적용 전/후 비교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90926" y="6797962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개선 방향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90926" y="7648735"/>
            <a:ext cx="6076629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16"/>
              </a:lnSpc>
              <a:spcBef>
                <a:spcPct val="0"/>
              </a:spcBef>
            </a:pPr>
            <a:r>
              <a:rPr lang="en-US" sz="3200" spc="313">
                <a:solidFill>
                  <a:srgbClr val="231F20"/>
                </a:solidFill>
                <a:latin typeface="DM Sans"/>
                <a:ea typeface="DM Sans"/>
                <a:cs typeface="DM Sans"/>
                <a:sym typeface="DM Sans"/>
              </a:rPr>
              <a:t>최종 결론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779578" y="734131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66262" y="914400"/>
            <a:ext cx="1595574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9"/>
              </a:lnSpc>
            </a:pPr>
            <a:r>
              <a:rPr lang="en-US" b="true" sz="6999" spc="685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RAGAS 평가 결과 요약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04348" y="3369824"/>
            <a:ext cx="4113179" cy="5112057"/>
            <a:chOff x="0" y="0"/>
            <a:chExt cx="1279723" cy="15905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9626" y="6624417"/>
            <a:ext cx="354262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충실도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73491" y="5636863"/>
            <a:ext cx="2974893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FAITHFULNESS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9605" y="4144273"/>
            <a:ext cx="26626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0.91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925015" y="3369824"/>
            <a:ext cx="4113179" cy="5112057"/>
            <a:chOff x="0" y="0"/>
            <a:chExt cx="1279723" cy="15905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210293" y="6624417"/>
            <a:ext cx="354262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답변 관련성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104812" y="5636863"/>
            <a:ext cx="375358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ANSWER RELEVANCY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50273" y="4144273"/>
            <a:ext cx="26626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0.87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247744" y="3369824"/>
            <a:ext cx="4113179" cy="5112057"/>
            <a:chOff x="0" y="0"/>
            <a:chExt cx="1279723" cy="159050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533022" y="6624417"/>
            <a:ext cx="354262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문맥 정밀도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27541" y="5636863"/>
            <a:ext cx="375358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CONTEXT PRECISION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3002" y="4144273"/>
            <a:ext cx="26626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0.79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570473" y="3369824"/>
            <a:ext cx="4113179" cy="5112057"/>
            <a:chOff x="0" y="0"/>
            <a:chExt cx="1279723" cy="159050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9723" cy="1590502"/>
            </a:xfrm>
            <a:custGeom>
              <a:avLst/>
              <a:gdLst/>
              <a:ahLst/>
              <a:cxnLst/>
              <a:rect r="r" b="b" t="t" l="l"/>
              <a:pathLst>
                <a:path h="1590502" w="1279723">
                  <a:moveTo>
                    <a:pt x="1882" y="0"/>
                  </a:moveTo>
                  <a:lnTo>
                    <a:pt x="1277841" y="0"/>
                  </a:lnTo>
                  <a:cubicBezTo>
                    <a:pt x="1278880" y="0"/>
                    <a:pt x="1279723" y="843"/>
                    <a:pt x="1279723" y="1882"/>
                  </a:cubicBezTo>
                  <a:lnTo>
                    <a:pt x="1279723" y="1588619"/>
                  </a:lnTo>
                  <a:cubicBezTo>
                    <a:pt x="1279723" y="1589659"/>
                    <a:pt x="1278880" y="1590502"/>
                    <a:pt x="1277841" y="1590502"/>
                  </a:cubicBezTo>
                  <a:lnTo>
                    <a:pt x="1882" y="1590502"/>
                  </a:lnTo>
                  <a:cubicBezTo>
                    <a:pt x="1383" y="1590502"/>
                    <a:pt x="904" y="1590303"/>
                    <a:pt x="551" y="1589950"/>
                  </a:cubicBezTo>
                  <a:cubicBezTo>
                    <a:pt x="198" y="1589597"/>
                    <a:pt x="0" y="1589119"/>
                    <a:pt x="0" y="1588619"/>
                  </a:cubicBezTo>
                  <a:lnTo>
                    <a:pt x="0" y="1882"/>
                  </a:lnTo>
                  <a:cubicBezTo>
                    <a:pt x="0" y="843"/>
                    <a:pt x="843" y="0"/>
                    <a:pt x="1882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27972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855751" y="6624417"/>
            <a:ext cx="3542623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문맥 재현율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97684" y="5641055"/>
            <a:ext cx="3258758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CONTEXT RECALL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95731" y="4144273"/>
            <a:ext cx="26626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6999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0.83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6262" y="2462152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Ground Truth 12개 기반 정량 평가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지표별 분석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178158"/>
            <a:ext cx="16230600" cy="1301034"/>
            <a:chOff x="0" y="0"/>
            <a:chExt cx="21640800" cy="173471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39604" cy="1734712"/>
              <a:chOff x="0" y="0"/>
              <a:chExt cx="67082" cy="34265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7082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67082">
                    <a:moveTo>
                      <a:pt x="0" y="0"/>
                    </a:moveTo>
                    <a:lnTo>
                      <a:pt x="67082" y="0"/>
                    </a:lnTo>
                    <a:lnTo>
                      <a:pt x="67082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67082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39604" y="0"/>
              <a:ext cx="21301196" cy="1734712"/>
              <a:chOff x="0" y="0"/>
              <a:chExt cx="3085205" cy="25125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085205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3085205">
                    <a:moveTo>
                      <a:pt x="0" y="0"/>
                    </a:moveTo>
                    <a:lnTo>
                      <a:pt x="3085205" y="0"/>
                    </a:lnTo>
                    <a:lnTo>
                      <a:pt x="3085205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3085205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Faithfulness 0.91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답변이 검색된 법률 문서에 충실히 근거함. Self-RAG의 Supportiveness 필터 덕분에 환각 최소화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7538459"/>
            <a:ext cx="16230600" cy="1301034"/>
            <a:chOff x="0" y="0"/>
            <a:chExt cx="21640800" cy="173471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39604" cy="1734712"/>
              <a:chOff x="0" y="0"/>
              <a:chExt cx="67082" cy="34265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7082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67082">
                    <a:moveTo>
                      <a:pt x="0" y="0"/>
                    </a:moveTo>
                    <a:lnTo>
                      <a:pt x="67082" y="0"/>
                    </a:lnTo>
                    <a:lnTo>
                      <a:pt x="67082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67082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39604" y="0"/>
              <a:ext cx="21301196" cy="1734712"/>
              <a:chOff x="0" y="0"/>
              <a:chExt cx="3085205" cy="25125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085205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3085205">
                    <a:moveTo>
                      <a:pt x="0" y="0"/>
                    </a:moveTo>
                    <a:lnTo>
                      <a:pt x="3085205" y="0"/>
                    </a:lnTo>
                    <a:lnTo>
                      <a:pt x="3085205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3085205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Context Recall 0.83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대부분의 필요 정보 검색 성공. 청크 오버랩(80) 증가로 누락 방지 가능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28700" y="6085025"/>
            <a:ext cx="16230600" cy="1301034"/>
            <a:chOff x="0" y="0"/>
            <a:chExt cx="21640800" cy="173471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339604" cy="1734712"/>
              <a:chOff x="0" y="0"/>
              <a:chExt cx="67082" cy="34265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7082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67082">
                    <a:moveTo>
                      <a:pt x="0" y="0"/>
                    </a:moveTo>
                    <a:lnTo>
                      <a:pt x="67082" y="0"/>
                    </a:lnTo>
                    <a:lnTo>
                      <a:pt x="67082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67082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39604" y="0"/>
              <a:ext cx="21301196" cy="1734712"/>
              <a:chOff x="0" y="0"/>
              <a:chExt cx="3085205" cy="25125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085205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3085205">
                    <a:moveTo>
                      <a:pt x="0" y="0"/>
                    </a:moveTo>
                    <a:lnTo>
                      <a:pt x="3085205" y="0"/>
                    </a:lnTo>
                    <a:lnTo>
                      <a:pt x="3085205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3085205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Context Precision 0.79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Top-K=4 검색 시 일부 무관 청크 포함. 청크 크기(400) 조정 또는 Top-K 축소 검토 필요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4631591"/>
            <a:ext cx="16230600" cy="1301034"/>
            <a:chOff x="0" y="0"/>
            <a:chExt cx="21640800" cy="173471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339604" cy="1734712"/>
              <a:chOff x="0" y="0"/>
              <a:chExt cx="67082" cy="34265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7082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67082">
                    <a:moveTo>
                      <a:pt x="0" y="0"/>
                    </a:moveTo>
                    <a:lnTo>
                      <a:pt x="67082" y="0"/>
                    </a:lnTo>
                    <a:lnTo>
                      <a:pt x="67082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67082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339604" y="0"/>
              <a:ext cx="21301196" cy="1734712"/>
              <a:chOff x="0" y="0"/>
              <a:chExt cx="3085205" cy="25125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3085205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3085205">
                    <a:moveTo>
                      <a:pt x="0" y="0"/>
                    </a:moveTo>
                    <a:lnTo>
                      <a:pt x="3085205" y="0"/>
                    </a:lnTo>
                    <a:lnTo>
                      <a:pt x="3085205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3085205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Answer Relevancy 0.87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사건 유형별 빠른 선택 UI와 명확한 시스템 프롬프트로 관련성 높은 답변 생성</a:t>
                </a:r>
              </a:p>
            </p:txBody>
          </p:sp>
        </p:grpSp>
      </p:grpSp>
      <p:sp>
        <p:nvSpPr>
          <p:cNvPr name="TextBox 34" id="34"/>
          <p:cNvSpPr txBox="true"/>
          <p:nvPr/>
        </p:nvSpPr>
        <p:spPr>
          <a:xfrm rot="0">
            <a:off x="1028700" y="2362159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점수를 통해 파이프라인의 강점과 개선점 파악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230600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SELF-RAG 적용 전 / 후 비교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62159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동일한 Ground Truth 12개 기준 비교</a:t>
            </a:r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028700" y="3181309"/>
          <a:ext cx="16230600" cy="6076991"/>
        </p:xfrm>
        <a:graphic>
          <a:graphicData uri="http://schemas.openxmlformats.org/drawingml/2006/table">
            <a:tbl>
              <a:tblPr/>
              <a:tblGrid>
                <a:gridCol w="4057650"/>
                <a:gridCol w="4057650"/>
                <a:gridCol w="4057650"/>
                <a:gridCol w="4057650"/>
              </a:tblGrid>
              <a:tr h="1215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변화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지표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일반 RAG (이전)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FFFFFF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Self-Rag (현재)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15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▲ +0.19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Faithfulness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0.91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5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▲ +0.09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Answer Relevancy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5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▲ +0.14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Context Precision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0.65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53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▲ +0.12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Context Recall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0.71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0.83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6230600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개선 방향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62159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  <a:spcBef>
                <a:spcPct val="0"/>
              </a:spcBef>
            </a:pPr>
            <a:r>
              <a:rPr lang="en-US" sz="3000">
                <a:solidFill>
                  <a:srgbClr val="231F20"/>
                </a:solidFill>
                <a:latin typeface="Open Sauce"/>
                <a:ea typeface="Open Sauce"/>
                <a:cs typeface="Open Sauce"/>
                <a:sym typeface="Open Sauce"/>
              </a:rPr>
              <a:t>낮은 지표 원인 분석 → 파라미터 개선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3305597"/>
            <a:ext cx="7700656" cy="5112057"/>
            <a:chOff x="0" y="0"/>
            <a:chExt cx="2395886" cy="159050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95886" cy="1590502"/>
            </a:xfrm>
            <a:custGeom>
              <a:avLst/>
              <a:gdLst/>
              <a:ahLst/>
              <a:cxnLst/>
              <a:rect r="r" b="b" t="t" l="l"/>
              <a:pathLst>
                <a:path h="1590502" w="2395886">
                  <a:moveTo>
                    <a:pt x="1005" y="0"/>
                  </a:moveTo>
                  <a:lnTo>
                    <a:pt x="2394880" y="0"/>
                  </a:lnTo>
                  <a:cubicBezTo>
                    <a:pt x="2395436" y="0"/>
                    <a:pt x="2395886" y="450"/>
                    <a:pt x="2395886" y="1005"/>
                  </a:cubicBezTo>
                  <a:lnTo>
                    <a:pt x="2395886" y="1589496"/>
                  </a:lnTo>
                  <a:cubicBezTo>
                    <a:pt x="2395886" y="1589763"/>
                    <a:pt x="2395780" y="1590019"/>
                    <a:pt x="2395591" y="1590207"/>
                  </a:cubicBezTo>
                  <a:cubicBezTo>
                    <a:pt x="2395403" y="1590396"/>
                    <a:pt x="2395147" y="1590502"/>
                    <a:pt x="2394880" y="1590502"/>
                  </a:cubicBezTo>
                  <a:lnTo>
                    <a:pt x="1005" y="1590502"/>
                  </a:lnTo>
                  <a:cubicBezTo>
                    <a:pt x="739" y="1590502"/>
                    <a:pt x="483" y="1590396"/>
                    <a:pt x="294" y="1590207"/>
                  </a:cubicBezTo>
                  <a:cubicBezTo>
                    <a:pt x="106" y="1590019"/>
                    <a:pt x="0" y="1589763"/>
                    <a:pt x="0" y="1589496"/>
                  </a:cubicBezTo>
                  <a:lnTo>
                    <a:pt x="0" y="1005"/>
                  </a:lnTo>
                  <a:cubicBezTo>
                    <a:pt x="0" y="739"/>
                    <a:pt x="106" y="483"/>
                    <a:pt x="294" y="294"/>
                  </a:cubicBezTo>
                  <a:cubicBezTo>
                    <a:pt x="483" y="106"/>
                    <a:pt x="739" y="0"/>
                    <a:pt x="1005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395886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41363" y="4725293"/>
            <a:ext cx="6350307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청크 크기: 400 → 300으로 축소</a:t>
            </a:r>
          </a:p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Top-K: 4 → 3으로 줄여 정밀도 향상</a:t>
            </a:r>
          </a:p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임베딩 모델 교체 검토 (text-embedding-3-small)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1363" y="4086714"/>
            <a:ext cx="6350307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---------------------------------------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59597" y="3677139"/>
            <a:ext cx="5280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CONTEXT PRECISION 개선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0" y="3305597"/>
            <a:ext cx="8115300" cy="5112057"/>
            <a:chOff x="0" y="0"/>
            <a:chExt cx="2524893" cy="15905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24893" cy="1590502"/>
            </a:xfrm>
            <a:custGeom>
              <a:avLst/>
              <a:gdLst/>
              <a:ahLst/>
              <a:cxnLst/>
              <a:rect r="r" b="b" t="t" l="l"/>
              <a:pathLst>
                <a:path h="1590502" w="2524893">
                  <a:moveTo>
                    <a:pt x="954" y="0"/>
                  </a:moveTo>
                  <a:lnTo>
                    <a:pt x="2523939" y="0"/>
                  </a:lnTo>
                  <a:cubicBezTo>
                    <a:pt x="2524466" y="0"/>
                    <a:pt x="2524893" y="427"/>
                    <a:pt x="2524893" y="954"/>
                  </a:cubicBezTo>
                  <a:lnTo>
                    <a:pt x="2524893" y="1589548"/>
                  </a:lnTo>
                  <a:cubicBezTo>
                    <a:pt x="2524893" y="1590075"/>
                    <a:pt x="2524466" y="1590502"/>
                    <a:pt x="2523939" y="1590502"/>
                  </a:cubicBezTo>
                  <a:lnTo>
                    <a:pt x="954" y="1590502"/>
                  </a:lnTo>
                  <a:cubicBezTo>
                    <a:pt x="701" y="1590502"/>
                    <a:pt x="458" y="1590401"/>
                    <a:pt x="279" y="1590222"/>
                  </a:cubicBezTo>
                  <a:cubicBezTo>
                    <a:pt x="101" y="1590043"/>
                    <a:pt x="0" y="1589801"/>
                    <a:pt x="0" y="1589548"/>
                  </a:cubicBezTo>
                  <a:lnTo>
                    <a:pt x="0" y="954"/>
                  </a:lnTo>
                  <a:cubicBezTo>
                    <a:pt x="0" y="701"/>
                    <a:pt x="101" y="458"/>
                    <a:pt x="279" y="279"/>
                  </a:cubicBezTo>
                  <a:cubicBezTo>
                    <a:pt x="458" y="101"/>
                    <a:pt x="701" y="0"/>
                    <a:pt x="954" y="0"/>
                  </a:cubicBez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FFBFB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24893" cy="1647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11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356663" y="4725293"/>
            <a:ext cx="6350307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청크 오버랩: 80 → 120으로 증가</a:t>
            </a:r>
          </a:p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검색 문서 수 K 조정 실험</a:t>
            </a:r>
          </a:p>
          <a:p>
            <a:pPr algn="l" marL="431801" indent="-215900" lvl="1">
              <a:lnSpc>
                <a:spcPts val="2760"/>
              </a:lnSpc>
              <a:buFont typeface="Arial"/>
              <a:buChar char="•"/>
            </a:pPr>
            <a:r>
              <a:rPr lang="en-US" sz="2000" spc="196">
                <a:solidFill>
                  <a:srgbClr val="FFFBFB"/>
                </a:solidFill>
                <a:latin typeface="DM Sans"/>
                <a:ea typeface="DM Sans"/>
                <a:cs typeface="DM Sans"/>
                <a:sym typeface="DM Sans"/>
              </a:rPr>
              <a:t>하이브리드 검색(키워드 + 벡터) 도입 고려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56663" y="4086714"/>
            <a:ext cx="6350307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40"/>
              </a:lnSpc>
              <a:spcBef>
                <a:spcPct val="0"/>
              </a:spcBef>
            </a:pPr>
            <a:r>
              <a:rPr lang="en-US" sz="3000" spc="294">
                <a:solidFill>
                  <a:srgbClr val="FDFBFB"/>
                </a:solidFill>
                <a:latin typeface="Oswald"/>
                <a:ea typeface="Oswald"/>
                <a:cs typeface="Oswald"/>
                <a:sym typeface="Oswald"/>
              </a:rPr>
              <a:t>---------------------------------------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4897" y="3677139"/>
            <a:ext cx="528096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CONTEXT RECALL 강화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1552977" cy="11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87"/>
              </a:lnSpc>
            </a:pPr>
            <a:r>
              <a:rPr lang="en-US" b="true" sz="6947" spc="368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최종 결론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479722" y="-4833750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4176364">
            <a:off x="-4105129" y="6530238"/>
            <a:ext cx="7616557" cy="7815497"/>
          </a:xfrm>
          <a:custGeom>
            <a:avLst/>
            <a:gdLst/>
            <a:ahLst/>
            <a:cxnLst/>
            <a:rect r="r" b="b" t="t" l="l"/>
            <a:pathLst>
              <a:path h="7815497" w="761655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3178158"/>
            <a:ext cx="16230600" cy="1301034"/>
            <a:chOff x="0" y="0"/>
            <a:chExt cx="21640800" cy="1734712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794497" cy="1734712"/>
              <a:chOff x="0" y="0"/>
              <a:chExt cx="354469" cy="342659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54469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354469">
                    <a:moveTo>
                      <a:pt x="0" y="0"/>
                    </a:moveTo>
                    <a:lnTo>
                      <a:pt x="354469" y="0"/>
                    </a:lnTo>
                    <a:lnTo>
                      <a:pt x="354469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354469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b="true" sz="2981" spc="29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01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1794497" y="0"/>
              <a:ext cx="19846303" cy="1734712"/>
              <a:chOff x="0" y="0"/>
              <a:chExt cx="2874483" cy="25125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874483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2874483">
                    <a:moveTo>
                      <a:pt x="0" y="0"/>
                    </a:moveTo>
                    <a:lnTo>
                      <a:pt x="2874483" y="0"/>
                    </a:lnTo>
                    <a:lnTo>
                      <a:pt x="2874483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2874483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Self-RAG 효과 검증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일반 RAG 대비 전 지표 평균 +0.135 향상. 법률 도메인 특화 효과 확인.</a:t>
                </a:r>
              </a:p>
            </p:txBody>
          </p:sp>
        </p:grpSp>
      </p:grpSp>
      <p:grpSp>
        <p:nvGrpSpPr>
          <p:cNvPr name="Group 13" id="13"/>
          <p:cNvGrpSpPr/>
          <p:nvPr/>
        </p:nvGrpSpPr>
        <p:grpSpPr>
          <a:xfrm rot="0">
            <a:off x="1028700" y="4679216"/>
            <a:ext cx="16230600" cy="1301034"/>
            <a:chOff x="0" y="0"/>
            <a:chExt cx="21640800" cy="173471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794497" cy="1734712"/>
              <a:chOff x="0" y="0"/>
              <a:chExt cx="354469" cy="342659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54469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354469">
                    <a:moveTo>
                      <a:pt x="0" y="0"/>
                    </a:moveTo>
                    <a:lnTo>
                      <a:pt x="354469" y="0"/>
                    </a:lnTo>
                    <a:lnTo>
                      <a:pt x="354469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57150"/>
                <a:ext cx="354469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b="true" sz="2981" spc="29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02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794497" y="0"/>
              <a:ext cx="19846303" cy="1734712"/>
              <a:chOff x="0" y="0"/>
              <a:chExt cx="2874483" cy="25125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74483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2874483">
                    <a:moveTo>
                      <a:pt x="0" y="0"/>
                    </a:moveTo>
                    <a:lnTo>
                      <a:pt x="2874483" y="0"/>
                    </a:lnTo>
                    <a:lnTo>
                      <a:pt x="2874483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19050"/>
                <a:ext cx="2874483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RAGAS 정량 평가 완료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Ground Truth 12개 기반으로 Faithfulness 0.91 / Answer Relevancy 0.87 달성.</a:t>
                </a: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1028700" y="6180275"/>
            <a:ext cx="16230600" cy="1301034"/>
            <a:chOff x="0" y="0"/>
            <a:chExt cx="21640800" cy="1734712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794497" cy="1734712"/>
              <a:chOff x="0" y="0"/>
              <a:chExt cx="354469" cy="34265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54469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354469">
                    <a:moveTo>
                      <a:pt x="0" y="0"/>
                    </a:moveTo>
                    <a:lnTo>
                      <a:pt x="354469" y="0"/>
                    </a:lnTo>
                    <a:lnTo>
                      <a:pt x="354469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354469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b="true" sz="2981" spc="29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03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94497" y="0"/>
              <a:ext cx="19846303" cy="1734712"/>
              <a:chOff x="0" y="0"/>
              <a:chExt cx="2874483" cy="25125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2874483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2874483">
                    <a:moveTo>
                      <a:pt x="0" y="0"/>
                    </a:moveTo>
                    <a:lnTo>
                      <a:pt x="2874483" y="0"/>
                    </a:lnTo>
                    <a:lnTo>
                      <a:pt x="2874483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2874483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Context Precision 보완 계획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최하위 지표(0.79) 개선을 위해 청크 전략 및 Top-K 조정 실험 예정.</a:t>
                </a:r>
              </a:p>
            </p:txBody>
          </p:sp>
        </p:grpSp>
      </p:grpSp>
      <p:grpSp>
        <p:nvGrpSpPr>
          <p:cNvPr name="Group 27" id="27"/>
          <p:cNvGrpSpPr/>
          <p:nvPr/>
        </p:nvGrpSpPr>
        <p:grpSpPr>
          <a:xfrm rot="0">
            <a:off x="1028700" y="7681334"/>
            <a:ext cx="16230600" cy="1301034"/>
            <a:chOff x="0" y="0"/>
            <a:chExt cx="21640800" cy="173471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1794497" cy="1734712"/>
              <a:chOff x="0" y="0"/>
              <a:chExt cx="354469" cy="342659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54469" cy="342659"/>
              </a:xfrm>
              <a:custGeom>
                <a:avLst/>
                <a:gdLst/>
                <a:ahLst/>
                <a:cxnLst/>
                <a:rect r="r" b="b" t="t" l="l"/>
                <a:pathLst>
                  <a:path h="342659" w="354469">
                    <a:moveTo>
                      <a:pt x="0" y="0"/>
                    </a:moveTo>
                    <a:lnTo>
                      <a:pt x="354469" y="0"/>
                    </a:lnTo>
                    <a:lnTo>
                      <a:pt x="354469" y="342659"/>
                    </a:lnTo>
                    <a:lnTo>
                      <a:pt x="0" y="342659"/>
                    </a:lnTo>
                    <a:close/>
                  </a:path>
                </a:pathLst>
              </a:custGeom>
              <a:solidFill>
                <a:srgbClr val="1A1A1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354469" cy="399809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ctr" marL="0" indent="0" lvl="0">
                  <a:lnSpc>
                    <a:spcPts val="4114"/>
                  </a:lnSpc>
                  <a:spcBef>
                    <a:spcPct val="0"/>
                  </a:spcBef>
                </a:pPr>
                <a:r>
                  <a:rPr lang="en-US" b="true" sz="2981" spc="29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04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1794497" y="0"/>
              <a:ext cx="19846303" cy="1734712"/>
              <a:chOff x="0" y="0"/>
              <a:chExt cx="2874483" cy="25125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874483" cy="251251"/>
              </a:xfrm>
              <a:custGeom>
                <a:avLst/>
                <a:gdLst/>
                <a:ahLst/>
                <a:cxnLst/>
                <a:rect r="r" b="b" t="t" l="l"/>
                <a:pathLst>
                  <a:path h="251251" w="2874483">
                    <a:moveTo>
                      <a:pt x="0" y="0"/>
                    </a:moveTo>
                    <a:lnTo>
                      <a:pt x="2874483" y="0"/>
                    </a:lnTo>
                    <a:lnTo>
                      <a:pt x="2874483" y="251251"/>
                    </a:lnTo>
                    <a:lnTo>
                      <a:pt x="0" y="251251"/>
                    </a:ln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19050"/>
                <a:ext cx="2874483" cy="270301"/>
              </a:xfrm>
              <a:prstGeom prst="rect">
                <a:avLst/>
              </a:prstGeom>
            </p:spPr>
            <p:txBody>
              <a:bodyPr anchor="ctr" rtlCol="false" tIns="292100" lIns="292100" bIns="292100" rIns="292100"/>
              <a:lstStyle/>
              <a:p>
                <a:pPr algn="l">
                  <a:lnSpc>
                    <a:spcPts val="2859"/>
                  </a:lnSpc>
                </a:pPr>
                <a:r>
                  <a:rPr lang="en-US" sz="2199" b="true">
                    <a:solidFill>
                      <a:srgbClr val="000000"/>
                    </a:solidFill>
                    <a:latin typeface="Open Sauce Bold"/>
                    <a:ea typeface="Open Sauce Bold"/>
                    <a:cs typeface="Open Sauce Bold"/>
                    <a:sym typeface="Open Sauce Bold"/>
                  </a:rPr>
                  <a:t>최종 발표 목표</a:t>
                </a:r>
              </a:p>
              <a:p>
                <a:pPr algn="l">
                  <a:lnSpc>
                    <a:spcPts val="2859"/>
                  </a:lnSpc>
                </a:pPr>
                <a:r>
                  <a:rPr lang="en-US" sz="2199">
                    <a:solidFill>
                      <a:srgbClr val="000000"/>
                    </a:solidFill>
                    <a:latin typeface="Open Sauce"/>
                    <a:ea typeface="Open Sauce"/>
                    <a:cs typeface="Open Sauce"/>
                    <a:sym typeface="Open Sauce"/>
                  </a:rPr>
                  <a:t>개선된 파라미터로 재평가 후 비교 결과 제시. 좋은 Ground Truth = 좋은 시스템.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420356" y="-10209431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9"/>
                </a:lnTo>
                <a:lnTo>
                  <a:pt x="0" y="246641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08554" y="3441556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231F20"/>
                </a:solidFill>
                <a:latin typeface="Oswald Bold"/>
                <a:ea typeface="Oswald Bold"/>
                <a:cs typeface="Oswald Bold"/>
                <a:sym typeface="Oswald Bold"/>
              </a:rPr>
              <a:t>THANK'S FOR WATCHING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4254153" y="7476061"/>
            <a:ext cx="11881594" cy="3564478"/>
          </a:xfrm>
          <a:custGeom>
            <a:avLst/>
            <a:gdLst/>
            <a:ahLst/>
            <a:cxnLst/>
            <a:rect r="r" b="b" t="t" l="l"/>
            <a:pathLst>
              <a:path h="3564478" w="11881594">
                <a:moveTo>
                  <a:pt x="11881594" y="0"/>
                </a:moveTo>
                <a:lnTo>
                  <a:pt x="0" y="0"/>
                </a:lnTo>
                <a:lnTo>
                  <a:pt x="0" y="3564478"/>
                </a:lnTo>
                <a:lnTo>
                  <a:pt x="11881594" y="3564478"/>
                </a:lnTo>
                <a:lnTo>
                  <a:pt x="1188159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DAHLkqIb4A8</dc:identifier>
  <dcterms:modified xsi:type="dcterms:W3CDTF">2011-08-01T06:04:30Z</dcterms:modified>
  <cp:revision>1</cp:revision>
  <dc:title>인공지능서비스개발 Ragas</dc:title>
</cp:coreProperties>
</file>