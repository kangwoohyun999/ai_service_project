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1188720"/>
            <a:ext cx="6400800" cy="2743200"/>
          </a:xfrm>
          <a:prstGeom prst="rect">
            <a:avLst/>
          </a:prstGeom>
          <a:ln w="19050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37160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법률 RAG </a:t>
            </a:r>
            <a:r>
              <a:rPr lang="en-US" sz="2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성능</a:t>
            </a: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600" b="1" dirty="0" err="1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28803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기반 법률 사건 Q&amp;A 챗봇 — Ground Truth 12개 정량 평가</a:t>
            </a:r>
            <a:endParaRPr lang="en-US" sz="1150" dirty="0"/>
          </a:p>
        </p:txBody>
      </p:sp>
      <p:sp>
        <p:nvSpPr>
          <p:cNvPr id="15" name="Text 13"/>
          <p:cNvSpPr>
            <a:spLocks/>
          </p:cNvSpPr>
          <p:nvPr/>
        </p:nvSpPr>
        <p:spPr>
          <a:xfrm>
            <a:off x="1369695" y="4039870"/>
            <a:ext cx="6393815" cy="3479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r">
              <a:buFontTx/>
              <a:buNone/>
            </a:pPr>
            <a:r>
              <a:rPr lang="en-US" sz="1050" b="1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강우현 · 김준우 · 김정효</a:t>
            </a:r>
            <a:endParaRPr lang="ko-KR" altLang="en-US" sz="1050" b="1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114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2103120" y="1508760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1508760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1508760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데이터셋 구성 (Ground Truth 12개)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03120" y="2084832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084832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834640" y="2084832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RAGAS 평가 방법론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2660904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2660904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834640" y="2660904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질문별 전체 점수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03120" y="3236976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03120" y="3236976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834640" y="3236976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상세 분석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03120" y="3813048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03120" y="3813048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834640" y="3813048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시각화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03120" y="4389120"/>
            <a:ext cx="4937760" cy="493776"/>
          </a:xfrm>
          <a:prstGeom prst="rect">
            <a:avLst/>
          </a:prstGeom>
          <a:solidFill>
            <a:srgbClr val="2A2A2A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4389120"/>
            <a:ext cx="685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834640" y="4389120"/>
            <a:ext cx="41148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방향 및 결론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데이터셋 구성 — Ground Truth 12개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603250"/>
            <a:ext cx="731520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법률 사건 유형별 질문 + 모범 정답 + RAG 답변 + 검색 문맥 4-tuple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960120"/>
            <a:ext cx="43878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960120"/>
            <a:ext cx="43878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960120"/>
            <a:ext cx="395922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960120"/>
            <a:ext cx="395922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(Question)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3044825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960120"/>
            <a:ext cx="3044825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요약 (Ground Truth)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26680" y="960120"/>
            <a:ext cx="114300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960120"/>
            <a:ext cx="114300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130746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130746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130746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26680" y="130746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130746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130746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교통사고 손해배상 청구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63440" y="130746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보험사에 치료비·위자료 청구, 민사소송 가능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726680" y="130746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28600" y="160909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160909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60909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26680" y="160909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160909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160909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전세 보증금 반환 거부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663440" y="160909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임차권등기명령 신청, HUG 보증 활용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726680" y="160909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28600" y="191135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5800" y="1911350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0" y="191135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26680" y="191135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191135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5800" y="191135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부당해고 구제 방법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663440" y="191135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3개월 내 노동위원회 구제신청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726680" y="191135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노동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28600" y="2212975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5800" y="2212975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63440" y="2212975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26680" y="2212975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8600" y="221297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5800" y="221297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사기 고소 절차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663440" y="221297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ECRM 온라인 신고, 증거 보전 필수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726680" y="221297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28600" y="251460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>
            <a:spLocks/>
          </p:cNvSpPr>
          <p:nvPr/>
        </p:nvSpPr>
        <p:spPr>
          <a:xfrm>
            <a:off x="687070" y="2520315"/>
            <a:ext cx="3960495" cy="302895"/>
          </a:xfrm>
          <a:prstGeom prst="rect">
            <a:avLst/>
          </a:prstGeom>
          <a:solidFill>
            <a:srgbClr val="E8E8E8"/>
          </a:solidFill>
          <a:ln w="3810" cap="flat" cmpd="sng">
            <a:solidFill>
              <a:srgbClr val="CCCCCC">
                <a:alpha val="100000"/>
              </a:srgbClr>
            </a:solidFill>
            <a:prstDash val="solid"/>
          </a:ln>
        </p:spPr>
        <p:txBody>
          <a:bodyPr vert="horz" wrap="square" lIns="0" tIns="0" rIns="0" bIns="0" numCol="1" anchor="t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4663440" y="251460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26680" y="251460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251460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85800" y="251460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폭행 피해 고소 방법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663440" y="251460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신고, 진단서·증거 확보 후 형사+민사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726680" y="251460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28600" y="2816225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2816225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63440" y="2816225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26680" y="2816225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28600" y="281622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85800" y="281622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불이행 대응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663440" y="281622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내용증명→계약 해제→손해배상 소송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7726680" y="281622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민사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228600" y="3117850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5800" y="3117850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3117850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26680" y="3117850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600" y="311785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85800" y="311785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명예훼손 고소 대응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4663440" y="311785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위법성 조각 사유(공익) 주장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7726680" y="311785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28600" y="342011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342011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663440" y="342011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26680" y="342011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28600" y="342011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85800" y="342011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이혼 재산 분할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663440" y="342011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기여도 기반 분할, 협의/재판상 이혼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7726680" y="342011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가사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228600" y="372173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85800" y="372173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663440" y="372173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26680" y="372173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8600" y="372173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685800" y="372173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임금 체불 법적 조치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63440" y="372173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고용노동부 진정, 형사처벌 가능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726680" y="372173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노동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228600" y="402336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402336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663440" y="402336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726680" y="402336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28600" y="402336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685800" y="402336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유출 대응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4663440" y="402336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개인정보보호위원회 신고, KISA 상담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726680" y="402336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228600" y="4324985"/>
            <a:ext cx="43878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85800" y="4324985"/>
            <a:ext cx="39592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663440" y="4324985"/>
            <a:ext cx="3044825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26680" y="4324985"/>
            <a:ext cx="1143000" cy="301625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28600" y="4324985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85800" y="4324985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 법적 보호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4663440" y="4324985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스토킹처벌법 — 긴급응급·잠정조치 신청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7726680" y="4324985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형사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228600" y="4626610"/>
            <a:ext cx="43878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85800" y="4626610"/>
            <a:ext cx="39592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63440" y="4626610"/>
            <a:ext cx="3044825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726680" y="4626610"/>
            <a:ext cx="1143000" cy="301625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4626610"/>
            <a:ext cx="43878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685800" y="4626610"/>
            <a:ext cx="39592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 피해 환불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4663440" y="4626610"/>
            <a:ext cx="3044825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소비자원 분쟁조정, 7일 내 청약철회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7726680" y="4626610"/>
            <a:ext cx="1143000" cy="30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RAGAS 평가 방법론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 지표 — LLM 자동 채점, 0~1 점수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질문 + Ground Truth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12개 준비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9456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Text 17"/>
          <p:cNvSpPr>
            <a:spLocks/>
          </p:cNvSpPr>
          <p:nvPr/>
        </p:nvSpPr>
        <p:spPr>
          <a:xfrm>
            <a:off x="2240280" y="1417320"/>
            <a:ext cx="274955" cy="366395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1100">
                <a:solidFill>
                  <a:srgbClr val="AAAAAA"/>
                </a:solidFill>
              </a:rPr>
              <a:t>▶</a:t>
            </a:r>
            <a:endParaRPr lang="ko-KR" altLang="en-US" sz="1100">
              <a:solidFill>
                <a:srgbClr val="AAAAAA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56032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FAISS 벡터DB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검색 (Top-K=4)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1417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GPT-4o-mini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 생성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0" y="1600200"/>
            <a:ext cx="365760" cy="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1417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49440" y="960120"/>
            <a:ext cx="1828800" cy="1280160"/>
          </a:xfrm>
          <a:prstGeom prst="rect">
            <a:avLst/>
          </a:prstGeom>
          <a:solidFill>
            <a:srgbClr val="1E1E1E"/>
          </a:solidFill>
          <a:ln w="10160">
            <a:solidFill>
              <a:srgbClr val="44444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10515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RAGAS evaluate()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 지표 산출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" y="2468880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" y="2468880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541905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Faithfulness (충실도)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279781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답변이 검색된 법률 문서에 근거하는가?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환각(Hallucination) 방지 핵심 지표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2468880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2468880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541905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Relevancy (답변 관련성)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79781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답변이 질문에 얼마나 직접 대응하는가?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불필요한 내용 없이 핵심을 짚었는지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3410585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8600" y="3410585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483610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(문맥 정밀도)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374015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검색된 청크 중 관련 있는 것이 상위에 있는가?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Ground Truth 기반 랭킹 평가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3410585"/>
            <a:ext cx="4160520" cy="868680"/>
          </a:xfrm>
          <a:prstGeom prst="rect">
            <a:avLst/>
          </a:prstGeom>
          <a:solidFill>
            <a:srgbClr val="1E1E1E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3410585"/>
            <a:ext cx="5461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3483610"/>
            <a:ext cx="3977640" cy="255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(문맥 재현율)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92040" y="3740150"/>
            <a:ext cx="3931920" cy="494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정답에 필요한 정보가 검색 문맥에 포함됐는가?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Ground Truth 생성에 필요한 정보 커버율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12개 질문별 전체 RAGAS 점수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chunk_size=400 / chunk_overlap=80 / Top-K=4 / GPT-4o-mini / text-embedding-3-large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" y="960120"/>
            <a:ext cx="493776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960120"/>
            <a:ext cx="42976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96012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0" y="960120"/>
            <a:ext cx="978408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9601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35040" y="960120"/>
            <a:ext cx="941832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960120"/>
            <a:ext cx="9418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Ans.Rel.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95160" y="960120"/>
            <a:ext cx="9601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96012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Ctx.Pre.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73568" y="960120"/>
            <a:ext cx="978408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73568" y="960120"/>
            <a:ext cx="978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Ctx.Rec.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01168" y="130759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3232" y="130759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3075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5040" y="130759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95160" y="130759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73568" y="13075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1168" y="13075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13232" y="13075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교통사고 손해배상 청구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0" y="13075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35040" y="13075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13075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73568" y="13075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01168" y="158191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3232" y="158191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15819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35040" y="158191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95160" y="158191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973568" y="15819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1168" y="15819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13232" y="15819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전세 보증금 반환 거부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0" y="15819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35040" y="15819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995160" y="15819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973568" y="15819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01168" y="185623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13232" y="185623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029200" y="185623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185623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185623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973568" y="185623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1168" y="185623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713232" y="18562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부당해고 구제 방법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200" y="18562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035040" y="185623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995160" y="185623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973568" y="18562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01168" y="213055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3232" y="213055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29200" y="213055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213055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995160" y="213055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73568" y="213055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01168" y="213055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13232" y="21305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사기 고소 절차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029200" y="21305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6035040" y="213055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995160" y="21305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973568" y="21305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01168" y="240487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13232" y="240487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029200" y="240487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35040" y="240487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95160" y="240487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973568" y="240487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1168" y="240487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13232" y="240487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폭행 피해 고소 방법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5029200" y="24048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035040" y="240487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6995160" y="24048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973568" y="24048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201168" y="267919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13232" y="267919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029200" y="267919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5040" y="267919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995160" y="267919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73568" y="267919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01168" y="26791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713232" y="26791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불이행 대응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5029200" y="26791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6035040" y="26791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6995160" y="26791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0.74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7973568" y="26791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201168" y="295351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3232" y="295351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029200" y="295351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035040" y="295351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95160" y="295351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73568" y="295351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01168" y="29535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713232" y="29535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명예훼손 고소 대응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029200" y="29535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6035040" y="29535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6995160" y="29535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0.70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7973568" y="29535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201168" y="322783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13232" y="322783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029200" y="322783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35040" y="322783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995160" y="322783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973568" y="322783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01168" y="322783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713232" y="32278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이혼 재산 분할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5029200" y="32278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6035040" y="322783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6995160" y="322783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7973568" y="322783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0.83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201168" y="350215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3232" y="350215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029200" y="350215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035040" y="350215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995160" y="350215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73568" y="350215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201168" y="350215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  <p:sp>
        <p:nvSpPr>
          <p:cNvPr id="131" name="Text 129"/>
          <p:cNvSpPr/>
          <p:nvPr/>
        </p:nvSpPr>
        <p:spPr>
          <a:xfrm>
            <a:off x="713232" y="350215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임금 체불 법적 조치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5029200" y="35021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6035040" y="350215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6995160" y="35021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7973568" y="350215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201168" y="377647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13232" y="377647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029200" y="377647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035040" y="377647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995160" y="377647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973568" y="377647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01168" y="377647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713232" y="377647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유출 대응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5029200" y="37764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6035040" y="377647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6995160" y="37764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</a:t>
            </a:r>
            <a:endParaRPr lang="en-US" sz="900" dirty="0"/>
          </a:p>
        </p:txBody>
      </p:sp>
      <p:sp>
        <p:nvSpPr>
          <p:cNvPr id="147" name="Text 145"/>
          <p:cNvSpPr/>
          <p:nvPr/>
        </p:nvSpPr>
        <p:spPr>
          <a:xfrm>
            <a:off x="7973568" y="377647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0.80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201168" y="4050792"/>
            <a:ext cx="493776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3232" y="4050792"/>
            <a:ext cx="429768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029200" y="40507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6035040" y="4050792"/>
            <a:ext cx="941832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95160" y="4050792"/>
            <a:ext cx="960120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973568" y="4050792"/>
            <a:ext cx="978408" cy="274320"/>
          </a:xfrm>
          <a:prstGeom prst="rect">
            <a:avLst/>
          </a:prstGeom>
          <a:solidFill>
            <a:srgbClr val="E8E8E8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201168" y="405079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155" name="Text 153"/>
          <p:cNvSpPr/>
          <p:nvPr/>
        </p:nvSpPr>
        <p:spPr>
          <a:xfrm>
            <a:off x="713232" y="405079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스토킹 법적 보호</a:t>
            </a:r>
            <a:endParaRPr lang="en-US" sz="800" dirty="0"/>
          </a:p>
        </p:txBody>
      </p:sp>
      <p:sp>
        <p:nvSpPr>
          <p:cNvPr id="156" name="Text 154"/>
          <p:cNvSpPr/>
          <p:nvPr/>
        </p:nvSpPr>
        <p:spPr>
          <a:xfrm>
            <a:off x="5029200" y="40507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</a:t>
            </a:r>
            <a:endParaRPr lang="en-US" sz="900" dirty="0"/>
          </a:p>
        </p:txBody>
      </p:sp>
      <p:sp>
        <p:nvSpPr>
          <p:cNvPr id="157" name="Text 155"/>
          <p:cNvSpPr/>
          <p:nvPr/>
        </p:nvSpPr>
        <p:spPr>
          <a:xfrm>
            <a:off x="6035040" y="405079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6995160" y="40507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7973568" y="405079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</a:t>
            </a:r>
            <a:endParaRPr lang="en-US" sz="900" dirty="0"/>
          </a:p>
        </p:txBody>
      </p:sp>
      <p:sp>
        <p:nvSpPr>
          <p:cNvPr id="160" name="Shape 158"/>
          <p:cNvSpPr/>
          <p:nvPr/>
        </p:nvSpPr>
        <p:spPr>
          <a:xfrm>
            <a:off x="201168" y="4325112"/>
            <a:ext cx="493776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13232" y="4325112"/>
            <a:ext cx="429768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029200" y="43251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035040" y="4325112"/>
            <a:ext cx="941832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995160" y="4325112"/>
            <a:ext cx="960120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973568" y="4325112"/>
            <a:ext cx="978408" cy="274320"/>
          </a:xfrm>
          <a:prstGeom prst="rect">
            <a:avLst/>
          </a:prstGeom>
          <a:solidFill>
            <a:srgbClr val="F0F0F0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201168" y="4325112"/>
            <a:ext cx="493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167" name="Text 165"/>
          <p:cNvSpPr/>
          <p:nvPr/>
        </p:nvSpPr>
        <p:spPr>
          <a:xfrm>
            <a:off x="713232" y="432511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소비자 피해 환불</a:t>
            </a:r>
            <a:endParaRPr lang="en-US" sz="800" dirty="0"/>
          </a:p>
        </p:txBody>
      </p:sp>
      <p:sp>
        <p:nvSpPr>
          <p:cNvPr id="168" name="Text 166"/>
          <p:cNvSpPr/>
          <p:nvPr/>
        </p:nvSpPr>
        <p:spPr>
          <a:xfrm>
            <a:off x="5029200" y="43251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900" dirty="0"/>
          </a:p>
        </p:txBody>
      </p:sp>
      <p:sp>
        <p:nvSpPr>
          <p:cNvPr id="169" name="Text 167"/>
          <p:cNvSpPr/>
          <p:nvPr/>
        </p:nvSpPr>
        <p:spPr>
          <a:xfrm>
            <a:off x="6035040" y="4325112"/>
            <a:ext cx="941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900" dirty="0"/>
          </a:p>
        </p:txBody>
      </p:sp>
      <p:sp>
        <p:nvSpPr>
          <p:cNvPr id="170" name="Text 168"/>
          <p:cNvSpPr/>
          <p:nvPr/>
        </p:nvSpPr>
        <p:spPr>
          <a:xfrm>
            <a:off x="6995160" y="43251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900" dirty="0"/>
          </a:p>
        </p:txBody>
      </p:sp>
      <p:sp>
        <p:nvSpPr>
          <p:cNvPr id="171" name="Text 169"/>
          <p:cNvSpPr/>
          <p:nvPr/>
        </p:nvSpPr>
        <p:spPr>
          <a:xfrm>
            <a:off x="7973568" y="4325112"/>
            <a:ext cx="978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44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900" dirty="0"/>
          </a:p>
        </p:txBody>
      </p:sp>
      <p:sp>
        <p:nvSpPr>
          <p:cNvPr id="172" name="Shape 170"/>
          <p:cNvSpPr/>
          <p:nvPr/>
        </p:nvSpPr>
        <p:spPr>
          <a:xfrm>
            <a:off x="201168" y="4599432"/>
            <a:ext cx="8750808" cy="329184"/>
          </a:xfrm>
          <a:prstGeom prst="rect">
            <a:avLst/>
          </a:prstGeom>
          <a:solidFill>
            <a:srgbClr val="222222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01168" y="4599432"/>
            <a:ext cx="4791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</a:t>
            </a:r>
            <a:endParaRPr lang="en-US" sz="1000" dirty="0"/>
          </a:p>
        </p:txBody>
      </p:sp>
      <p:sp>
        <p:nvSpPr>
          <p:cNvPr id="174" name="Text 172"/>
          <p:cNvSpPr/>
          <p:nvPr/>
        </p:nvSpPr>
        <p:spPr>
          <a:xfrm>
            <a:off x="5029200" y="4599432"/>
            <a:ext cx="978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0.8842</a:t>
            </a:r>
            <a:endParaRPr lang="en-US" sz="1000" dirty="0"/>
          </a:p>
        </p:txBody>
      </p:sp>
      <p:sp>
        <p:nvSpPr>
          <p:cNvPr id="175" name="Text 173"/>
          <p:cNvSpPr/>
          <p:nvPr/>
        </p:nvSpPr>
        <p:spPr>
          <a:xfrm>
            <a:off x="6035040" y="4599432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0.8717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6995160" y="4599432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0.7742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7973568" y="4599432"/>
            <a:ext cx="978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0.8225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지표별 상세 분석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점수 기반 강점·약점 도출 및 원인 분석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914400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914400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1005840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100584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97840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Faithfulness   ★ 우수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12618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Self-RAG Supportiveness 필터가 근거 없는 답변을 제어함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1499616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시스템 프롬프트에 "반드시 문맥만 사용" 명시 → 환각 억제 효과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1901952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901952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18120" y="1993392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199339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0.8717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196596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Relevancy   ★ 우수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2249424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사건 유형 빠른 선택 UI + 명확한 프롬프트 템플릿 적용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248716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질문이 구체적일수록 높은 점수 — Q1·Q4·Q12 상위권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" y="2889504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89504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18120" y="2980944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18120" y="298094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29535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  △ 개선여지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3236976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Top-K=4 검색 시 무관 청크 일부 포함, chunk_size=400 다소 큼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3474720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→ chunk_size 300 / Top-K 3 축소 시 약 +0.05 예상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3877056"/>
            <a:ext cx="8412480" cy="914400"/>
          </a:xfrm>
          <a:prstGeom prst="rect">
            <a:avLst/>
          </a:prstGeom>
          <a:solidFill>
            <a:srgbClr val="1C1C1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877056"/>
            <a:ext cx="6400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18120" y="3968496"/>
            <a:ext cx="822960" cy="365760"/>
          </a:xfrm>
          <a:prstGeom prst="rect">
            <a:avLst/>
          </a:prstGeom>
          <a:solidFill>
            <a:srgbClr val="2A2A2A"/>
          </a:solidFill>
          <a:ln w="508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18120" y="396849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0.8225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48640" y="394106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  ○ 양호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8640" y="422452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원인: 청크 오버랩(80) 적용으로 대부분 필요 정보 포함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48640" y="446227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개선: → overlap 120 증가 및 하이브리드 검색 도입 고려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시각화 (1) — 질문별 전체 점수 &amp; 지표 평균</a:t>
            </a:r>
            <a:endParaRPr lang="en-US" sz="1800" dirty="0"/>
          </a:p>
        </p:txBody>
      </p:sp>
      <p:pic>
        <p:nvPicPr>
          <p:cNvPr id="15" name="Image 0" descr="C:/Users/USER/AppData/Roaming/PolarisOffice/ETemp/13884_12031528/image-7-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3"/>
          <a:stretch>
            <a:fillRect/>
          </a:stretch>
        </p:blipFill>
        <p:spPr>
          <a:xfrm>
            <a:off x="274320" y="837565"/>
            <a:ext cx="6401435" cy="2226310"/>
          </a:xfrm>
          <a:prstGeom prst="rect">
            <a:avLst/>
          </a:prstGeom>
          <a:noFill/>
        </p:spPr>
      </p:pic>
      <p:pic>
        <p:nvPicPr>
          <p:cNvPr id="16" name="Image 1" descr="C:/Users/USER/AppData/Roaming/PolarisOffice/ETemp/13884_12031528/image-7-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55"/>
          <a:stretch>
            <a:fillRect/>
          </a:stretch>
        </p:blipFill>
        <p:spPr>
          <a:xfrm>
            <a:off x="6812280" y="844550"/>
            <a:ext cx="2149475" cy="2219325"/>
          </a:xfrm>
          <a:prstGeom prst="rect">
            <a:avLst/>
          </a:prstGeom>
          <a:noFill/>
        </p:spPr>
      </p:pic>
      <p:sp>
        <p:nvSpPr>
          <p:cNvPr id="17" name="Shape 13"/>
          <p:cNvSpPr/>
          <p:nvPr/>
        </p:nvSpPr>
        <p:spPr>
          <a:xfrm>
            <a:off x="274320" y="3200400"/>
            <a:ext cx="8595360" cy="201295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74320" y="3200400"/>
            <a:ext cx="8595360" cy="201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0.9+ 우수  |  0.7~0.89 양호  |  0.5~0.69 개선 필요 — Context Precision(0.7742)이 최저, 개선 우선순위 1순위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69875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69875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0.8842</a:t>
            </a:r>
            <a:endParaRPr lang="en-US" sz="3000" dirty="0"/>
          </a:p>
        </p:txBody>
      </p:sp>
      <p:sp>
        <p:nvSpPr>
          <p:cNvPr id="21" name="Text 17"/>
          <p:cNvSpPr/>
          <p:nvPr/>
        </p:nvSpPr>
        <p:spPr>
          <a:xfrm>
            <a:off x="269875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52755" y="4663440"/>
            <a:ext cx="1536065" cy="10985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52755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437130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437130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0.8717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2437130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Ans.Relevancy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2620010" y="4663440"/>
            <a:ext cx="1514475" cy="109855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2620010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603750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603750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0.7742</a:t>
            </a:r>
            <a:endParaRPr lang="en-US" sz="3000" dirty="0"/>
          </a:p>
        </p:txBody>
      </p:sp>
      <p:sp>
        <p:nvSpPr>
          <p:cNvPr id="31" name="Text 27"/>
          <p:cNvSpPr/>
          <p:nvPr/>
        </p:nvSpPr>
        <p:spPr>
          <a:xfrm>
            <a:off x="4603750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Ctx.Precision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786630" y="4663440"/>
            <a:ext cx="1344930" cy="109855"/>
          </a:xfrm>
          <a:prstGeom prst="rect">
            <a:avLst/>
          </a:prstGeom>
          <a:solidFill>
            <a:srgbClr val="777777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786630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71005" y="3520440"/>
            <a:ext cx="2103120" cy="1325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771005" y="3703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0.8225</a:t>
            </a:r>
            <a:endParaRPr lang="en-US" sz="3000" dirty="0"/>
          </a:p>
        </p:txBody>
      </p:sp>
      <p:sp>
        <p:nvSpPr>
          <p:cNvPr id="36" name="Text 32"/>
          <p:cNvSpPr/>
          <p:nvPr/>
        </p:nvSpPr>
        <p:spPr>
          <a:xfrm>
            <a:off x="6771005" y="4324985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Ctx.Recall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953885" y="4663440"/>
            <a:ext cx="1428750" cy="109855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953885" y="4663440"/>
            <a:ext cx="1737360" cy="109855"/>
          </a:xfrm>
          <a:prstGeom prst="rect">
            <a:avLst/>
          </a:prstGeom>
          <a:ln w="6350">
            <a:solidFill>
              <a:srgbClr val="333333"/>
            </a:solidFill>
            <a:prstDash val="solid"/>
          </a:ln>
        </p:spPr>
      </p:sp>
      <p:sp>
        <p:nvSpPr>
          <p:cNvPr id="39" name="도형 1"/>
          <p:cNvSpPr>
            <a:spLocks/>
          </p:cNvSpPr>
          <p:nvPr/>
        </p:nvSpPr>
        <p:spPr>
          <a:xfrm>
            <a:off x="2373630" y="636905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▼ 12개 질문별 Ragas 4가지 지표</a:t>
            </a:r>
            <a:endParaRPr lang="ko-KR" altLang="en-US" sz="800" b="1">
              <a:solidFill>
                <a:schemeClr val="tx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  <p:sp>
        <p:nvSpPr>
          <p:cNvPr id="40" name="도형 2"/>
          <p:cNvSpPr>
            <a:spLocks/>
          </p:cNvSpPr>
          <p:nvPr/>
        </p:nvSpPr>
        <p:spPr>
          <a:xfrm>
            <a:off x="6786245" y="639445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tx1"/>
                </a:solidFill>
                <a:latin typeface="맑은 고딕" charset="0"/>
                <a:ea typeface="맑은 고딕" charset="0"/>
                <a:cs typeface="Arial Black" charset="0"/>
              </a:rPr>
              <a:t>▼ 질문별 지표 평균(12개 질문)</a:t>
            </a:r>
            <a:endParaRPr lang="ko-KR" altLang="en-US" sz="800" b="1">
              <a:solidFill>
                <a:schemeClr val="tx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5905"/>
            <a:ext cx="502920" cy="3473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5905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시각화 (2) — 지표 추이 &amp; 레이더 분석</a:t>
            </a:r>
            <a:endParaRPr lang="en-US" sz="1800" dirty="0"/>
          </a:p>
        </p:txBody>
      </p:sp>
      <p:pic>
        <p:nvPicPr>
          <p:cNvPr id="15" name="Image 0" descr="C:/Users/USER/AppData/Roaming/PolarisOffice/ETemp/13884_12031528/image-8-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77"/>
          <a:stretch>
            <a:fillRect/>
          </a:stretch>
        </p:blipFill>
        <p:spPr>
          <a:xfrm>
            <a:off x="274320" y="892810"/>
            <a:ext cx="6218555" cy="2125345"/>
          </a:xfrm>
          <a:prstGeom prst="rect">
            <a:avLst/>
          </a:prstGeom>
          <a:noFill/>
        </p:spPr>
      </p:pic>
      <p:pic>
        <p:nvPicPr>
          <p:cNvPr id="16" name="Image 1" descr="C:/Users/USER/AppData/Roaming/PolarisOffice/ETemp/13884_12031528/image-8-2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4"/>
          <a:stretch>
            <a:fillRect/>
          </a:stretch>
        </p:blipFill>
        <p:spPr>
          <a:xfrm>
            <a:off x="6583680" y="775970"/>
            <a:ext cx="2423795" cy="2242185"/>
          </a:xfrm>
          <a:prstGeom prst="rect">
            <a:avLst/>
          </a:prstGeom>
          <a:noFill/>
        </p:spPr>
      </p:pic>
      <p:sp>
        <p:nvSpPr>
          <p:cNvPr id="17" name="Shape 13"/>
          <p:cNvSpPr/>
          <p:nvPr/>
        </p:nvSpPr>
        <p:spPr>
          <a:xfrm>
            <a:off x="274320" y="320040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14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Q5 (폭행 고소)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2423160" y="3200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Faithfulness 0.94 — 형사 조항 명확해 환각 없음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274320" y="3630295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11480" y="3630295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Q7 (명예훼손)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2423160" y="3630295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 0.70 — 위법성 조각 청크 검색 미흡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274320" y="406019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11480" y="406019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Q4 (온라인사기)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2423160" y="406019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 0.72 — 사이버범죄 청크 분산 문제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4320" y="4489450"/>
            <a:ext cx="8595360" cy="365760"/>
          </a:xfrm>
          <a:prstGeom prst="rect">
            <a:avLst/>
          </a:prstGeom>
          <a:solidFill>
            <a:srgbClr val="1C1C1C"/>
          </a:solidFill>
          <a:ln w="508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11480" y="448945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Q6 (계약불이행)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2423160" y="448945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전반적 최하위 — 청크 크기 조정 시 가장 효과적</a:t>
            </a:r>
            <a:endParaRPr lang="en-US" sz="900" dirty="0"/>
          </a:p>
        </p:txBody>
      </p:sp>
      <p:sp>
        <p:nvSpPr>
          <p:cNvPr id="29" name="도형 3"/>
          <p:cNvSpPr>
            <a:spLocks/>
          </p:cNvSpPr>
          <p:nvPr/>
        </p:nvSpPr>
        <p:spPr>
          <a:xfrm>
            <a:off x="2277745" y="678180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▼ 질문별 지표 추이 (Q1~Q12)</a:t>
            </a:r>
            <a:endParaRPr lang="ko-KR" altLang="en-US" sz="800" b="1">
              <a:solidFill>
                <a:schemeClr val="bg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  <p:sp>
        <p:nvSpPr>
          <p:cNvPr id="30" name="도형 4"/>
          <p:cNvSpPr>
            <a:spLocks/>
          </p:cNvSpPr>
          <p:nvPr/>
        </p:nvSpPr>
        <p:spPr>
          <a:xfrm>
            <a:off x="6689725" y="551180"/>
            <a:ext cx="2193925" cy="208280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sz="800" b="1">
                <a:solidFill>
                  <a:schemeClr val="bg1"/>
                </a:solidFill>
                <a:latin typeface="맑은 고딕" charset="0"/>
                <a:ea typeface="맑은 고딕" charset="0"/>
                <a:cs typeface="Arial Black" charset="0"/>
              </a:rPr>
              <a:t>▼ 분석 결과 시각화</a:t>
            </a:r>
            <a:endParaRPr lang="ko-KR" altLang="en-US" sz="800" b="1">
              <a:solidFill>
                <a:schemeClr val="bg1"/>
              </a:solidFill>
              <a:latin typeface="맑은 고딕" charset="0"/>
              <a:ea typeface="맑은 고딕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592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AAAA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60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56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개선 방향 및 결론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5943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낮은 지표 분석 → 파라미터 조정 → 재평가 목표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960120"/>
            <a:ext cx="4114800" cy="2148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069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Precision 개선 (0.7742)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1463040"/>
            <a:ext cx="374904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chunk_size: 400 → 300 축소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Top-K: 4 → 3 줄여 정밀도 향상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모델 교체 검토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679192"/>
            <a:ext cx="3749040" cy="274320"/>
          </a:xfrm>
          <a:prstGeom prst="rect">
            <a:avLst/>
          </a:prstGeom>
          <a:solidFill>
            <a:srgbClr val="2A2A2A"/>
          </a:solidFill>
          <a:ln w="5080">
            <a:solidFill>
              <a:srgbClr val="44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679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목표: 0.83+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4114800" cy="2148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1069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Recall 강화 (0.8225)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1463040"/>
            <a:ext cx="374904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1527048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chunk_overlap: 80 → 120 증가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하이브리드 검색 (벡터+BM25) 도입</a:t>
            </a:r>
            <a:endParaRPr lang="en-US" sz="1050" dirty="0"/>
          </a:p>
          <a:p>
            <a:pPr marL="342900" indent="-342900" algn="l">
              <a:buSzPct val="100000"/>
              <a:buChar char="•"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K 수 실험적 조정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37760" y="2679192"/>
            <a:ext cx="3749040" cy="274320"/>
          </a:xfrm>
          <a:prstGeom prst="rect">
            <a:avLst/>
          </a:prstGeom>
          <a:solidFill>
            <a:srgbClr val="2A2A2A"/>
          </a:solidFill>
          <a:ln w="5080">
            <a:solidFill>
              <a:srgbClr val="44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26791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목표: 0.88+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472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0.8381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7472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지표 평균 — 전반적으로 양호한 성능 확인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432304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32304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23744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Self-RAG 효과 검증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523744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RAG 대비 Faithfulness +0.19, Precision +0.14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08576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08576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00016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최약 지표 식별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00016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Ctx Precision(0.7742) — 청크 전략 개선 우선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784848" y="3218688"/>
            <a:ext cx="2103120" cy="1600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84848" y="3291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76288" y="36301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 목표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76288" y="3995928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후 재평가 → 전 지표 0.85+ 달성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50292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-27432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21040" y="-4572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64465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097280" y="3291840"/>
            <a:ext cx="2560320" cy="256032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822960" y="3520440"/>
            <a:ext cx="2194560" cy="219456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-548640" y="3749040"/>
            <a:ext cx="1828800" cy="182880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274320" y="3977640"/>
            <a:ext cx="1463040" cy="146304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20624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2926080"/>
            <a:ext cx="2926080" cy="29260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0" y="3200400"/>
            <a:ext cx="2468880" cy="24688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3474720"/>
            <a:ext cx="2011680" cy="20116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3749040"/>
            <a:ext cx="1554480" cy="15544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4023360"/>
            <a:ext cx="1097280" cy="1097280"/>
          </a:xfrm>
          <a:prstGeom prst="ellipse">
            <a:avLst/>
          </a:prstGeom>
          <a:ln w="15240">
            <a:solidFill>
              <a:srgbClr val="444444"/>
            </a:solidFill>
            <a:prstDash val="solid"/>
          </a:ln>
        </p:spPr>
      </p:sp>
      <p:sp>
        <p:nvSpPr>
          <p:cNvPr id="17" name="Text 15"/>
          <p:cNvSpPr>
            <a:spLocks/>
          </p:cNvSpPr>
          <p:nvPr/>
        </p:nvSpPr>
        <p:spPr>
          <a:xfrm>
            <a:off x="0" y="2111375"/>
            <a:ext cx="9144635" cy="915035"/>
          </a:xfrm>
          <a:prstGeom prst="rect">
            <a:avLst/>
          </a:prstGeom>
          <a:noFill/>
          <a:ln cap="flat" cmpd="sng"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en-US" sz="4800" b="1" spc="1000">
                <a:solidFill>
                  <a:srgbClr val="FFFFFF"/>
                </a:solidFill>
                <a:latin typeface="Arial Black" charset="0"/>
                <a:ea typeface="Arial Black" charset="0"/>
                <a:cs typeface="Arial Black" charset="0"/>
              </a:rPr>
              <a:t>THANK YOU</a:t>
            </a:r>
            <a:endParaRPr lang="ko-KR" altLang="en-US" sz="4800" b="1">
              <a:solidFill>
                <a:srgbClr val="FFFFFF"/>
              </a:solidFill>
              <a:latin typeface="Arial Black" charset="0"/>
              <a:ea typeface="Arial Black" charset="0"/>
              <a:cs typeface="Arial Black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Pages>10</Pages>
  <Words>897</Words>
  <Characters>0</Characters>
  <Application>Microsoft Office PowerPoint</Application>
  <DocSecurity>0</DocSecurity>
  <PresentationFormat>화면 슬라이드 쇼(16:9)</PresentationFormat>
  <Lines>0</Lines>
  <Paragraphs>264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맑은 고딕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RAGAS 법률 RAG 성능 평가 리포트</dc:title>
  <dc:subject>PptxGenJS Presentation</dc:subject>
  <dc:creator>PptxGenJS</dc:creator>
  <cp:lastModifiedBy>User</cp:lastModifiedBy>
  <cp:revision>4</cp:revision>
  <dcterms:modified xsi:type="dcterms:W3CDTF">2026-06-04T05:47:29Z</dcterms:modified>
  <cp:version>10.105.224.52366</cp:version>
</cp:coreProperties>
</file>