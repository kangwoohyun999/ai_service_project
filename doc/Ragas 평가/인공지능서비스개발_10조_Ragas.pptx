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2" r:id="rId3"/>
  </p:sldMasterIdLst>
  <p:notesMasterIdLst>
    <p:notesMasterId r:id="rId4"/>
  </p:notesMasterIdLst>
  <p:sldIdLst>
    <p:sldId id="256" r:id="rId6"/>
    <p:sldId id="257" r:id="rId8"/>
    <p:sldId id="258" r:id="rId10"/>
    <p:sldId id="259" r:id="rId12"/>
    <p:sldId id="260" r:id="rId14"/>
    <p:sldId id="261" r:id="rId16"/>
    <p:sldId id="262" r:id="rId18"/>
    <p:sldId id="263" r:id="rId20"/>
    <p:sldId id="264" r:id="rId22"/>
    <p:sldId id="265" r:id="rId24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notesMaster" Target="notesMasters/notesMaster1.xml"></Relationship><Relationship Id="rId5" Type="http://schemas.openxmlformats.org/officeDocument/2006/relationships/theme" Target="theme/theme2.xml"></Relationship><Relationship Id="rId6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10" Type="http://schemas.openxmlformats.org/officeDocument/2006/relationships/slide" Target="slides/slide3.xml"></Relationship><Relationship Id="rId12" Type="http://schemas.openxmlformats.org/officeDocument/2006/relationships/slide" Target="slides/slide4.xml"></Relationship><Relationship Id="rId14" Type="http://schemas.openxmlformats.org/officeDocument/2006/relationships/slide" Target="slides/slide5.xml"></Relationship><Relationship Id="rId16" Type="http://schemas.openxmlformats.org/officeDocument/2006/relationships/slide" Target="slides/slide6.xml"></Relationship><Relationship Id="rId18" Type="http://schemas.openxmlformats.org/officeDocument/2006/relationships/slide" Target="slides/slide7.xml"></Relationship><Relationship Id="rId20" Type="http://schemas.openxmlformats.org/officeDocument/2006/relationships/slide" Target="slides/slide8.xml"></Relationship><Relationship Id="rId22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6" Type="http://schemas.openxmlformats.org/officeDocument/2006/relationships/viewProps" Target="viewProps.xml"></Relationship><Relationship Id="rId2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image-7-1.png"></Relationship><Relationship Id="rId2" Type="http://schemas.openxmlformats.org/officeDocument/2006/relationships/image" Target="../media/image-7-2.png"></Relationship><Relationship Id="rId3" Type="http://schemas.openxmlformats.org/officeDocument/2006/relationships/slideLayout" Target="../slideLayouts/slideLayout1.xml"></Relationship><Relationship Id="rId4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image" Target="../media/image-8-1.png"></Relationship><Relationship Id="rId2" Type="http://schemas.openxmlformats.org/officeDocument/2006/relationships/image" Target="../media/image-8-2.png"></Relationship><Relationship Id="rId3" Type="http://schemas.openxmlformats.org/officeDocument/2006/relationships/slideLayout" Target="../slideLayouts/slideLayout1.xml"></Relationship><Relationship Id="rId4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465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188720"/>
            <a:ext cx="6400800" cy="2743200"/>
          </a:xfrm>
          <a:prstGeom prst="rect">
            <a:avLst/>
          </a:prstGeom>
          <a:ln w="1905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37160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RAGAS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법률 RAG 성능 평가 리포트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기반 법률 사건 Q&amp;A 챗봇 — Ground Truth 12개 정량 평가</a:t>
            </a:r>
            <a:endParaRPr lang="en-US" sz="1150" dirty="0"/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1369695" y="4039870"/>
            <a:ext cx="6393815" cy="3479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r">
              <a:buFontTx/>
              <a:buNone/>
            </a:pPr>
            <a:r>
              <a:rPr lang="en-US" sz="105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강우현 · 김준우 · 김정효</a:t>
            </a:r>
            <a:endParaRPr lang="ko-KR" altLang="en-US" sz="1050" b="1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11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103120" y="1508760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508760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150876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구성 (Ground Truth 12개)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084832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084832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34640" y="208483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평가 방법론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2660904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660904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266090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질문별 전체 점수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03120" y="3236976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3236976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34640" y="323697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지표별 상세 분석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3813048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813048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34640" y="381304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시각화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03120" y="4389120"/>
            <a:ext cx="4937760" cy="493776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389120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34640" y="438912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방향 및 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465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5905"/>
            <a:ext cx="502920" cy="34734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5905"/>
            <a:ext cx="502920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590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데이터셋 구성 — Ground Truth 12개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603250"/>
            <a:ext cx="731520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법률 사건 유형별 질문 + 모범 정답 + RAG 답변 + 검색 문맥 4-tuple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960120"/>
            <a:ext cx="438785" cy="34734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960120"/>
            <a:ext cx="438785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960120"/>
            <a:ext cx="3959225" cy="34734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960120"/>
            <a:ext cx="3959225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(Question)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3044825" cy="34734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60120"/>
            <a:ext cx="3044825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요약 (Ground Truth)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960120"/>
            <a:ext cx="1143000" cy="34734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960120"/>
            <a:ext cx="1143000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307465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1307465"/>
            <a:ext cx="39592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07465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1307465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307465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1307465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교통사고 손해배상 청구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1307465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보험사에 치료비·위자료 청구, 민사소송 가능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26680" y="1307465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1609090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1609090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609090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1609090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160909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" y="160909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전세 보증금 반환 거부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63440" y="160909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임차권등기명령 신청, HUG 보증 활용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26680" y="160909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1911350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1911350"/>
            <a:ext cx="39592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1911350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1911350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191135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" y="191135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부당해고 구제 방법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191135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내 노동위원회 구제신청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26680" y="191135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노동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2212975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" y="2212975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2212975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6680" y="2212975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2212975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" y="2212975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사기 고소 절차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63440" y="2212975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ECRM 온라인 신고, 증거 보전 필수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26680" y="2212975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형사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" y="2514600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>
            <a:spLocks/>
          </p:cNvSpPr>
          <p:nvPr/>
        </p:nvSpPr>
        <p:spPr>
          <a:xfrm rot="0">
            <a:off x="666750" y="2486025"/>
            <a:ext cx="3959860" cy="302260"/>
          </a:xfrm>
          <a:prstGeom prst="rect"/>
          <a:solidFill>
            <a:srgbClr val="E8E8E8"/>
          </a:solidFill>
          <a:ln w="3810" cap="flat" cmpd="sng">
            <a:solidFill>
              <a:srgbClr val="CCCCCC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663440" y="2514600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26680" y="2514600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251460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5800" y="251460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폭행 피해 고소 방법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63440" y="251460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신고, 진단서·증거 확보 후 형사+민사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726680" y="251460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형사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28600" y="2816225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" y="2816225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63440" y="2816225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26680" y="2816225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2816225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5800" y="2816225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불이행 대응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663440" y="2816225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내용증명→계약 해제→손해배상 소송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726680" y="2816225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민사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28600" y="3117850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5800" y="3117850"/>
            <a:ext cx="39592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3117850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26680" y="3117850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11785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5800" y="311785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명예훼손 고소 대응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663440" y="311785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위법성 조각 사유(공익) 주장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726680" y="311785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형사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" y="3420110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" y="3420110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63440" y="3420110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26680" y="3420110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8600" y="342011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85800" y="342011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이혼 재산 분할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663440" y="342011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기여도 기반 분할, 협의/재판상 이혼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726680" y="342011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가사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3721735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" y="3721735"/>
            <a:ext cx="39592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63440" y="3721735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726680" y="3721735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" y="3721735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85800" y="3721735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임금 체불 법적 조치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663440" y="3721735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고용노동부 진정, 형사처벌 가능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726680" y="3721735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노동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28600" y="4023360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5800" y="4023360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63440" y="4023360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26680" y="4023360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28600" y="402336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85800" y="402336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유출 대응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663440" y="402336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개인정보보호위원회 신고, KISA 상담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726680" y="402336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28600" y="4324985"/>
            <a:ext cx="43878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85800" y="4324985"/>
            <a:ext cx="39592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663440" y="4324985"/>
            <a:ext cx="3044825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26680" y="4324985"/>
            <a:ext cx="1143000" cy="301625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4324985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85800" y="4324985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스토킹 법적 보호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4663440" y="4324985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스토킹처벌법 — 긴급응급·잠정조치 신청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726680" y="4324985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형사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228600" y="4626610"/>
            <a:ext cx="43878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5800" y="4626610"/>
            <a:ext cx="39592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4626610"/>
            <a:ext cx="3044825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26680" y="4626610"/>
            <a:ext cx="1143000" cy="301625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8600" y="4626610"/>
            <a:ext cx="43878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85800" y="4626610"/>
            <a:ext cx="39592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피해 환불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663440" y="4626610"/>
            <a:ext cx="3044825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소비자원 분쟁조정, 7일 내 청약철회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7726680" y="4626610"/>
            <a:ext cx="1143000" cy="30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465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5905"/>
            <a:ext cx="502920" cy="3473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5905"/>
            <a:ext cx="502920" cy="34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590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RAGAS 평가 방법론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594360"/>
            <a:ext cx="731520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지표 — LLM 자동 채점, 0~1 점수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960120"/>
            <a:ext cx="1828800" cy="1280160"/>
          </a:xfrm>
          <a:prstGeom prst="rect">
            <a:avLst/>
          </a:pr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51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질문 + Ground Truth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12개 준비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16002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>
            <a:spLocks/>
          </p:cNvSpPr>
          <p:nvPr/>
        </p:nvSpPr>
        <p:spPr>
          <a:xfrm rot="0">
            <a:off x="2240280" y="1417320"/>
            <a:ext cx="27495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100">
                <a:solidFill>
                  <a:srgbClr val="AAAAAA"/>
                </a:solidFill>
              </a:rPr>
              <a:t>▶</a:t>
            </a:r>
            <a:endParaRPr lang="ko-KR" altLang="en-US" sz="1100">
              <a:solidFill>
                <a:srgbClr val="AAAAAA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0320" y="960120"/>
            <a:ext cx="1828800" cy="1280160"/>
          </a:xfrm>
          <a:prstGeom prst="rect">
            <a:avLst/>
          </a:pr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051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FAISS 벡터DB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검색 (Top-K=4)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6002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1828800" cy="1280160"/>
          </a:xfrm>
          <a:prstGeom prst="rect">
            <a:avLst/>
          </a:pr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51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GPT-4o-mini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생성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16002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960120"/>
            <a:ext cx="1828800" cy="1280160"/>
          </a:xfrm>
          <a:prstGeom prst="rect">
            <a:avLst/>
          </a:pr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0515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RAGAS evaluate()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지표 산출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2468880"/>
            <a:ext cx="416052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468880"/>
            <a:ext cx="5461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41905"/>
            <a:ext cx="397764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Faithfulness (충실도)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2797810"/>
            <a:ext cx="3931920" cy="494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답변이 검색된 법률 문서에 근거하는가?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환각(Hallucination) 방지 핵심 지표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468880"/>
            <a:ext cx="416052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468880"/>
            <a:ext cx="5461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41905"/>
            <a:ext cx="397764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Relevancy (답변 관련성)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2797810"/>
            <a:ext cx="3931920" cy="494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답변이 질문에 얼마나 직접 대응하는가?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불필요한 내용 없이 핵심을 짚었는지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410585"/>
            <a:ext cx="416052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3410585"/>
            <a:ext cx="5461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83610"/>
            <a:ext cx="397764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Precision (문맥 정밀도)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3740150"/>
            <a:ext cx="3931920" cy="494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검색된 청크 중 관련 있는 것이 상위에 있는가?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Ground Truth 기반 랭킹 평가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410585"/>
            <a:ext cx="4160520" cy="86868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410585"/>
            <a:ext cx="5461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483610"/>
            <a:ext cx="3977640" cy="25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Recall (문맥 재현율)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3740150"/>
            <a:ext cx="3931920" cy="494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정답에 필요한 정보가 검색 문맥에 포함됐는가?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Ground Truth 생성에 필요한 정보 커버율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12개 질문별 전체 RAGAS 점수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594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chunk_size=400 / chunk_overlap=80 / Top-K=4 / GPT-4o-mini / text-embedding-3-large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960120"/>
            <a:ext cx="493776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96012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960120"/>
            <a:ext cx="42976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960120"/>
            <a:ext cx="978408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9601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960120"/>
            <a:ext cx="94183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960120"/>
            <a:ext cx="941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Ans.Rel.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95160" y="960120"/>
            <a:ext cx="9601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9601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Ctx.Pre.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73568" y="960120"/>
            <a:ext cx="978408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9601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Ctx.Rec.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130759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130759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30759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30759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30759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3568" y="130759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130759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3232" y="13075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교통사고 손해배상 청구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13075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130759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13075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73568" y="13075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" y="158191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158191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158191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158191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95160" y="158191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73568" y="158191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" y="158191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3232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전세 보증금 반환 거부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0" y="15819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158191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95160" y="15819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73568" y="15819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1168" y="185623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185623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0" y="185623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185623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5160" y="185623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73568" y="185623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" y="185623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3232" y="1856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부당해고 구제 방법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200" y="185623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35040" y="185623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95160" y="18562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73568" y="185623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01168" y="213055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" y="213055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213055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213055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95160" y="213055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73568" y="213055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1168" y="213055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13232" y="21305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사기 고소 절차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29200" y="213055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035040" y="213055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95160" y="21305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973568" y="213055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01168" y="240487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3232" y="240487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0" y="240487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35040" y="240487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95160" y="240487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73568" y="240487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1168" y="240487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13232" y="2404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폭행 피해 고소 방법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29200" y="240487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035040" y="240487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995160" y="24048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973568" y="240487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01168" y="267919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13232" y="267919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29200" y="267919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035040" y="267919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95160" y="267919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73568" y="267919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1168" y="267919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13232" y="2679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불이행 대응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29200" y="26791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035040" y="267919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995160" y="26791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973568" y="26791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01168" y="295351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3232" y="295351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29200" y="295351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35040" y="295351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95160" y="295351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73568" y="295351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01168" y="295351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13232" y="29535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명예훼손 고소 대응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29200" y="29535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035040" y="295351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6995160" y="29535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973568" y="29535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01168" y="322783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13232" y="322783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029200" y="322783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35040" y="322783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95160" y="322783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973568" y="322783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168" y="322783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13232" y="32278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이혼 재산 분할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5029200" y="322783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035040" y="322783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995160" y="32278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7973568" y="322783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01168" y="350215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13232" y="350215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29200" y="350215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035040" y="350215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995160" y="350215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73568" y="350215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01168" y="350215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13232" y="35021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임금 체불 법적 조치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5029200" y="350215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035040" y="350215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6995160" y="35021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7973568" y="350215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201168" y="377647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3232" y="377647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29200" y="377647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35040" y="377647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995160" y="377647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973568" y="377647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01168" y="377647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713232" y="37764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유출 대응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5029200" y="377647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035040" y="377647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6995160" y="37764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7973568" y="377647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201168" y="4050792"/>
            <a:ext cx="493776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3232" y="4050792"/>
            <a:ext cx="429768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029200" y="405079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4050792"/>
            <a:ext cx="941832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995160" y="4050792"/>
            <a:ext cx="960120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973568" y="4050792"/>
            <a:ext cx="978408" cy="274320"/>
          </a:xfrm>
          <a:prstGeom prst="rect">
            <a:avLst/>
          </a:prstGeom>
          <a:solidFill>
            <a:srgbClr val="E8E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01168" y="405079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713232" y="40507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스토킹 법적 보호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5029200" y="40507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035040" y="405079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6995160" y="40507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7973568" y="405079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201168" y="4325112"/>
            <a:ext cx="493776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13232" y="4325112"/>
            <a:ext cx="429768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029200" y="432511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35040" y="4325112"/>
            <a:ext cx="941832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995160" y="4325112"/>
            <a:ext cx="960120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73568" y="4325112"/>
            <a:ext cx="978408" cy="27432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01168" y="432511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713232" y="4325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피해 환불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5029200" y="43251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035040" y="4325112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6995160" y="43251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7973568" y="4325112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201168" y="4599432"/>
            <a:ext cx="8750808" cy="329184"/>
          </a:xfrm>
          <a:prstGeom prst="rect">
            <a:avLst/>
          </a:prstGeom>
          <a:solidFill>
            <a:srgbClr val="22222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01168" y="4599432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</a:t>
            </a:r>
            <a:endParaRPr lang="en-US" sz="1000" dirty="0"/>
          </a:p>
        </p:txBody>
      </p:sp>
      <p:sp>
        <p:nvSpPr>
          <p:cNvPr id="174" name="Text 172"/>
          <p:cNvSpPr/>
          <p:nvPr/>
        </p:nvSpPr>
        <p:spPr>
          <a:xfrm>
            <a:off x="5029200" y="4599432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0.8842</a:t>
            </a:r>
            <a:endParaRPr lang="en-US" sz="1000" dirty="0"/>
          </a:p>
        </p:txBody>
      </p:sp>
      <p:sp>
        <p:nvSpPr>
          <p:cNvPr id="175" name="Text 173"/>
          <p:cNvSpPr/>
          <p:nvPr/>
        </p:nvSpPr>
        <p:spPr>
          <a:xfrm>
            <a:off x="6035040" y="4599432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0.8717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6995160" y="45994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0.7742</a:t>
            </a:r>
            <a:endParaRPr lang="en-US" sz="1000" dirty="0"/>
          </a:p>
        </p:txBody>
      </p:sp>
      <p:sp>
        <p:nvSpPr>
          <p:cNvPr id="177" name="Text 175"/>
          <p:cNvSpPr/>
          <p:nvPr/>
        </p:nvSpPr>
        <p:spPr>
          <a:xfrm>
            <a:off x="7973568" y="4599432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지표별 상세 분석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594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점수 기반 강점·약점 도출 및 원인 분석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914400"/>
            <a:ext cx="64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005840"/>
            <a:ext cx="822960" cy="365760"/>
          </a:xfrm>
          <a:prstGeom prst="rect">
            <a:avLst/>
          </a:prstGeom>
          <a:solidFill>
            <a:srgbClr val="2A2A2A"/>
          </a:solidFill>
          <a:ln w="508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005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0.8842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9784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Faithfulness   ★ 우수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12618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 Self-RAG Supportiveness 필터가 근거 없는 답변을 제어함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149961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개선: 시스템 프롬프트에 "반드시 문맥만 사용" 명시 → 환각 억제 효과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1901952"/>
            <a:ext cx="841248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901952"/>
            <a:ext cx="64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1993392"/>
            <a:ext cx="822960" cy="365760"/>
          </a:xfrm>
          <a:prstGeom prst="rect">
            <a:avLst/>
          </a:prstGeom>
          <a:solidFill>
            <a:srgbClr val="2A2A2A"/>
          </a:solidFill>
          <a:ln w="508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9933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0.8717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19659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Relevancy   ★ 우수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224942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 사건 유형 빠른 선택 UI + 명확한 프롬프트 템플릿 적용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24871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개선: 질문이 구체적일수록 높은 점수 — Q1·Q4·Q12 상위권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889504"/>
            <a:ext cx="841248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889504"/>
            <a:ext cx="64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980944"/>
            <a:ext cx="822960" cy="365760"/>
          </a:xfrm>
          <a:prstGeom prst="rect">
            <a:avLst/>
          </a:prstGeom>
          <a:solidFill>
            <a:srgbClr val="2A2A2A"/>
          </a:solidFill>
          <a:ln w="508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9809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0.7742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29535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Precision   △ 개선여지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323697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 Top-K=4 검색 시 무관 청크 일부 포함, chunk_size=400 다소 큼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347472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개선: → chunk_size 300 / Top-K 3 축소 시 약 +0.05 예상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877056"/>
            <a:ext cx="64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3968496"/>
            <a:ext cx="822960" cy="365760"/>
          </a:xfrm>
          <a:prstGeom prst="rect">
            <a:avLst/>
          </a:prstGeom>
          <a:solidFill>
            <a:srgbClr val="2A2A2A"/>
          </a:solidFill>
          <a:ln w="508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9684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0.8225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394106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Recall   ○ 양호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422452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 청크 오버랩(80) 적용으로 대부분 필요 정보 포함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44622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개선: → overlap 120 증가 및 하이브리드 검색 도입 고려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결과 시각화 (1) — 질문별 전체 점수 &amp; 지표 평균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6400800" cy="237744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685800"/>
            <a:ext cx="2148840" cy="23774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3200400"/>
            <a:ext cx="8595360" cy="2011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32004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0.9+ 우수  |  0.7~0.89 양호  |  0.5~0.69 개선 필요 — Context Precision(0.7742)이 최저, 개선 우선순위 1순위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69748" y="3520440"/>
            <a:ext cx="21031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9748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0.8842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269748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52628" y="4663440"/>
            <a:ext cx="153617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2628" y="4663440"/>
            <a:ext cx="1737360" cy="109728"/>
          </a:xfrm>
          <a:prstGeom prst="rect">
            <a:avLst/>
          </a:prstGeom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436876" y="3520440"/>
            <a:ext cx="21031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436876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0.8717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2436876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Ans.Relevancy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619756" y="4663440"/>
            <a:ext cx="1514457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619756" y="4663440"/>
            <a:ext cx="1737360" cy="109728"/>
          </a:xfrm>
          <a:prstGeom prst="rect">
            <a:avLst/>
          </a:prstGeom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04004" y="3520440"/>
            <a:ext cx="21031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04004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0.7742</a:t>
            </a:r>
            <a:endParaRPr lang="en-US" sz="3000" dirty="0"/>
          </a:p>
        </p:txBody>
      </p:sp>
      <p:sp>
        <p:nvSpPr>
          <p:cNvPr id="31" name="Text 27"/>
          <p:cNvSpPr/>
          <p:nvPr/>
        </p:nvSpPr>
        <p:spPr>
          <a:xfrm>
            <a:off x="4604004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Ctx.Precision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86884" y="4663440"/>
            <a:ext cx="1345064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786884" y="4663440"/>
            <a:ext cx="1737360" cy="109728"/>
          </a:xfrm>
          <a:prstGeom prst="rect">
            <a:avLst/>
          </a:prstGeom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71132" y="3520440"/>
            <a:ext cx="21031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71132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0.8225</a:t>
            </a:r>
            <a:endParaRPr lang="en-US" sz="3000" dirty="0"/>
          </a:p>
        </p:txBody>
      </p:sp>
      <p:sp>
        <p:nvSpPr>
          <p:cNvPr id="36" name="Text 32"/>
          <p:cNvSpPr/>
          <p:nvPr/>
        </p:nvSpPr>
        <p:spPr>
          <a:xfrm>
            <a:off x="6771132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Ctx.Recall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954012" y="4663440"/>
            <a:ext cx="1428979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954012" y="4663440"/>
            <a:ext cx="1737360" cy="109728"/>
          </a:xfrm>
          <a:prstGeom prst="rect">
            <a:avLst/>
          </a:prstGeom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결과 시각화 (2) — 지표 추이 &amp; 레이더 분석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6217920" cy="233172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94360"/>
            <a:ext cx="2423160" cy="2423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solidFill>
            <a:srgbClr val="1C1C1C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Q5 (폭행 고소)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42316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0.94 — 형사 조항 명확해 환각 없음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4320" y="3630168"/>
            <a:ext cx="8595360" cy="365760"/>
          </a:xfrm>
          <a:prstGeom prst="rect">
            <a:avLst/>
          </a:prstGeom>
          <a:solidFill>
            <a:srgbClr val="1C1C1C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3630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Q7 (명예훼손)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423160" y="3630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Precision 0.70 — 위법성 조각 청크 검색 미흡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4059936"/>
            <a:ext cx="8595360" cy="365760"/>
          </a:xfrm>
          <a:prstGeom prst="rect">
            <a:avLst/>
          </a:prstGeom>
          <a:solidFill>
            <a:srgbClr val="1C1C1C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40599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Q4 (온라인사기)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423160" y="40599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Precision 0.72 — 사이버범죄 청크 분산 문제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4320" y="4489704"/>
            <a:ext cx="8595360" cy="365760"/>
          </a:xfrm>
          <a:prstGeom prst="rect">
            <a:avLst/>
          </a:prstGeom>
          <a:solidFill>
            <a:srgbClr val="1C1C1C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11480" y="44897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Q6 (계약불이행)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423160" y="4489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전반적 최하위 — 청크 크기 조정 시 가장 효과적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592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개선 방향 및 결론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594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지표 분석 → 파라미터 조정 → 재평가 목표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960120"/>
            <a:ext cx="4114800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Precision 개선 (0.7742)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463040"/>
            <a:ext cx="374904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270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chunk_size: 400 → 300 축소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Top-K: 4 → 3 줄여 정밀도 향상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 교체 검토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79192"/>
            <a:ext cx="3749040" cy="274320"/>
          </a:xfrm>
          <a:prstGeom prst="rect">
            <a:avLst/>
          </a:prstGeom>
          <a:solidFill>
            <a:srgbClr val="2A2A2A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목표: 0.83+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114800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Recall 강화 (0.8225)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463040"/>
            <a:ext cx="374904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270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chunk_overlap: 80 → 120 증가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검색 (벡터+BM25) 도입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K 수 실험적 조정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679192"/>
            <a:ext cx="3749040" cy="274320"/>
          </a:xfrm>
          <a:prstGeom prst="rect">
            <a:avLst/>
          </a:prstGeom>
          <a:solidFill>
            <a:srgbClr val="2A2A2A"/>
          </a:solidFill>
          <a:ln w="508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목표: 0.88+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218688"/>
            <a:ext cx="2103120" cy="1600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" y="3630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평균 0.8381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39959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지표 평균 — 전반적으로 양호한 성능 확인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32304" y="3218688"/>
            <a:ext cx="2103120" cy="1600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23744" y="3630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효과 검증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23744" y="39959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RAG 대비 Faithfulness +0.19, Precision +0.14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08576" y="3218688"/>
            <a:ext cx="2103120" cy="1600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0016" y="3630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최약 지표 식별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0016" y="39959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Precision(0.7742) — 청크 전략 개선 우선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84848" y="3218688"/>
            <a:ext cx="2103120" cy="1600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76288" y="3630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 목표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39959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후 재평가 → 전 지표 0.85+ 달성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0292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4572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4465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3520440"/>
            <a:ext cx="2194560" cy="219456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3977640"/>
            <a:ext cx="1463040" cy="146304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20624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3200400"/>
            <a:ext cx="2468880" cy="24688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3474720"/>
            <a:ext cx="2011680" cy="20116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3749040"/>
            <a:ext cx="1554480" cy="15544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023360"/>
            <a:ext cx="1097280" cy="1097280"/>
          </a:xfrm>
          <a:prstGeom prst="ellipse">
            <a:avLst/>
          </a:prstGeom>
          <a:ln w="1524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>
            <a:spLocks/>
          </p:cNvSpPr>
          <p:nvPr/>
        </p:nvSpPr>
        <p:spPr>
          <a:xfrm rot="0">
            <a:off x="0" y="2111375"/>
            <a:ext cx="9144635" cy="9150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4800" spc="1000" b="1">
                <a:solidFill>
                  <a:srgbClr val="FFFFFF"/>
                </a:solidFill>
                <a:latin typeface="Arial Black" charset="0"/>
                <a:ea typeface="Arial Black" charset="0"/>
                <a:cs typeface="Arial Black" charset="0"/>
              </a:rPr>
              <a:t>THANK YOU</a:t>
            </a:r>
            <a:endParaRPr lang="ko-KR" altLang="en-US" sz="4800" b="1">
              <a:solidFill>
                <a:srgbClr val="FFFFFF"/>
              </a:solidFill>
              <a:latin typeface="Arial Black" charset="0"/>
              <a:ea typeface="Arial Black" charset="0"/>
              <a:cs typeface="Arial Black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10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ppssw0419</cp:lastModifiedBy>
  <dc:title>RAGAS 법률 RAG 성능 평가 리포트</dc:title>
  <dc:subject>PptxGenJS Presentation</dc:subject>
  <cp:version>10.105.224.52366</cp:version>
  <dcterms:modified xsi:type="dcterms:W3CDTF">2026-06-04T03:42:23Z</dcterms:modified>
</cp:coreProperties>
</file>