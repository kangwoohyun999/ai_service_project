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96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08" y="1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점수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59669"/>
              </a:solidFill>
              <a:ln>
                <a:solidFill>
                  <a:srgbClr val="059669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F8E-4190-8728-B025DDCC8563}"/>
              </c:ext>
            </c:extLst>
          </c:dPt>
          <c:dPt>
            <c:idx val="1"/>
            <c:invertIfNegative val="0"/>
            <c:bubble3D val="0"/>
            <c:spPr>
              <a:solidFill>
                <a:srgbClr val="059669"/>
              </a:solidFill>
              <a:ln>
                <a:solidFill>
                  <a:srgbClr val="059669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F8E-4190-8728-B025DDCC8563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F8E-4190-8728-B025DDCC8563}"/>
              </c:ext>
            </c:extLst>
          </c:dPt>
          <c:dPt>
            <c:idx val="3"/>
            <c:invertIfNegative val="0"/>
            <c:bubble3D val="0"/>
            <c:spPr>
              <a:solidFill>
                <a:srgbClr val="059669"/>
              </a:solidFill>
              <a:ln>
                <a:solidFill>
                  <a:srgbClr val="059669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F8E-4190-8728-B025DDCC8563}"/>
              </c:ext>
            </c:extLst>
          </c:dPt>
          <c:cat>
            <c:strRef>
              <c:f>Sheet1!$A$2:$A$5</c:f>
              <c:strCache>
                <c:ptCount val="4"/>
                <c:pt idx="0">
                  <c:v>Faithfulness</c:v>
                </c:pt>
                <c:pt idx="1">
                  <c:v>Ans. Relevancy</c:v>
                </c:pt>
                <c:pt idx="2">
                  <c:v>Ctx. Precision</c:v>
                </c:pt>
                <c:pt idx="3">
                  <c:v>Ctx. Recall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0.88419999999999999</c:v>
                </c:pt>
                <c:pt idx="1">
                  <c:v>0.87170000000000003</c:v>
                </c:pt>
                <c:pt idx="2">
                  <c:v>0.7742</c:v>
                </c:pt>
                <c:pt idx="3">
                  <c:v>0.82250000000000001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F8E-4190-8728-B025DDCC85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tx1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3349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7980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164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9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9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1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2011680" y="1554480"/>
            <a:ext cx="5120640" cy="2103120"/>
          </a:xfrm>
          <a:prstGeom prst="rect">
            <a:avLst/>
          </a:prstGeom>
          <a:solidFill>
            <a:srgbClr val="EBEBEB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2011680" y="1601343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인공지능서비스개발 최종 발표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011680" y="2395728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5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SELF-RAG 기반 법률 사건 Q&amp;A 챗봇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2011680" y="3363087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vs LLM 비교 출력 · RAGAS 정량 평가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011680" y="367893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 err="1" smtClean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강우현</a:t>
            </a:r>
            <a:r>
              <a:rPr lang="en-US" sz="1600" b="1" dirty="0" smtClean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, </a:t>
            </a:r>
            <a:r>
              <a:rPr lang="en-US" sz="1600" b="1" dirty="0" err="1" smtClean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김준우</a:t>
            </a:r>
            <a:r>
              <a:rPr lang="en-US" sz="1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,</a:t>
            </a:r>
            <a:r>
              <a:rPr lang="en-US" sz="1600" b="1" dirty="0" smtClean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1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김정효</a:t>
            </a:r>
            <a:endParaRPr lang="en-US" sz="1600" dirty="0"/>
          </a:p>
        </p:txBody>
      </p:sp>
      <p:sp>
        <p:nvSpPr>
          <p:cNvPr id="9" name="Freeform 4"/>
          <p:cNvSpPr/>
          <p:nvPr/>
        </p:nvSpPr>
        <p:spPr>
          <a:xfrm>
            <a:off x="-1770647" y="-2762631"/>
            <a:ext cx="4708919" cy="4583430"/>
          </a:xfrm>
          <a:custGeom>
            <a:avLst/>
            <a:gdLst/>
            <a:ahLst/>
            <a:cxnLst/>
            <a:rect l="l" t="t" r="r" b="b"/>
            <a:pathLst>
              <a:path w="9022634" h="9258300">
                <a:moveTo>
                  <a:pt x="0" y="0"/>
                </a:moveTo>
                <a:lnTo>
                  <a:pt x="9022634" y="0"/>
                </a:lnTo>
                <a:lnTo>
                  <a:pt x="90226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3"/>
          <p:cNvSpPr/>
          <p:nvPr/>
        </p:nvSpPr>
        <p:spPr>
          <a:xfrm rot="7659121">
            <a:off x="7428453" y="2084669"/>
            <a:ext cx="4763580" cy="4803969"/>
          </a:xfrm>
          <a:custGeom>
            <a:avLst/>
            <a:gdLst/>
            <a:ahLst/>
            <a:cxnLst/>
            <a:rect l="l" t="t" r="r" b="b"/>
            <a:pathLst>
              <a:path w="7629294" h="7828566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0" y="22860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kern="0" spc="8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</a:t>
            </a:r>
            <a:endParaRPr lang="en-US" sz="5200" dirty="0"/>
          </a:p>
        </p:txBody>
      </p:sp>
      <p:sp>
        <p:nvSpPr>
          <p:cNvPr id="5" name="Shape 1"/>
          <p:cNvSpPr/>
          <p:nvPr/>
        </p:nvSpPr>
        <p:spPr>
          <a:xfrm>
            <a:off x="2286000" y="1170432"/>
            <a:ext cx="658368" cy="512064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286000" y="117043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3035808" y="1225296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 &amp; 배경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2286000" y="1792224"/>
            <a:ext cx="658368" cy="512064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286000" y="1792224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3035808" y="1847088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설계 &amp; 기술 스택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2286000" y="2414016"/>
            <a:ext cx="658368" cy="512064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286000" y="2414016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035808" y="246888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기능: Self-RAG 6단계 파이프라인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2286000" y="3035808"/>
            <a:ext cx="658368" cy="512064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286000" y="3035808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035808" y="309067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기능: RAG vs LLM 비교 UI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2286000" y="3657600"/>
            <a:ext cx="658368" cy="512064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286000" y="3657600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3035808" y="3712464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RAGAS 성능 평가 결과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2286000" y="4279392"/>
            <a:ext cx="658368" cy="512064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286000" y="427939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3035808" y="4334256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 및 향후 계획</a:t>
            </a:r>
            <a:endParaRPr lang="en-US" sz="1600" dirty="0"/>
          </a:p>
        </p:txBody>
      </p:sp>
      <p:sp>
        <p:nvSpPr>
          <p:cNvPr id="23" name="Freeform 2"/>
          <p:cNvSpPr/>
          <p:nvPr/>
        </p:nvSpPr>
        <p:spPr>
          <a:xfrm rot="7659121">
            <a:off x="-2464073" y="2974536"/>
            <a:ext cx="4323061" cy="4034997"/>
          </a:xfrm>
          <a:custGeom>
            <a:avLst/>
            <a:gdLst/>
            <a:ahLst/>
            <a:cxnLst/>
            <a:rect l="l" t="t" r="r" b="b"/>
            <a:pathLst>
              <a:path w="7629294" h="7828566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7"/>
          <p:cNvSpPr/>
          <p:nvPr/>
        </p:nvSpPr>
        <p:spPr>
          <a:xfrm rot="2016048">
            <a:off x="5909785" y="-491047"/>
            <a:ext cx="6651309" cy="1441058"/>
          </a:xfrm>
          <a:custGeom>
            <a:avLst/>
            <a:gdLst/>
            <a:ahLst/>
            <a:cxnLst/>
            <a:rect l="l" t="t" r="r" b="b"/>
            <a:pathLst>
              <a:path w="10749463" h="2687366">
                <a:moveTo>
                  <a:pt x="0" y="0"/>
                </a:moveTo>
                <a:lnTo>
                  <a:pt x="10749463" y="0"/>
                </a:lnTo>
                <a:lnTo>
                  <a:pt x="10749463" y="2687365"/>
                </a:lnTo>
                <a:lnTo>
                  <a:pt x="0" y="26873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5603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프로젝트 개요</a:t>
            </a:r>
            <a:endParaRPr lang="en-US" sz="3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65860"/>
            <a:ext cx="237744" cy="2377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91440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시민은 법률 사건 발생 시 전문 지식이 부족해 당황하기 쉽다.</a:t>
            </a:r>
            <a:endParaRPr lang="en-US" sz="13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63242"/>
            <a:ext cx="237744" cy="23774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22960" y="1810512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LLM은 할루시네이션(Hallucination) 위험이 높고, 최신 법령 반영이 어렵다.</a:t>
            </a:r>
            <a:endParaRPr lang="en-US" sz="13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59862"/>
            <a:ext cx="237744" cy="23774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22960" y="2706624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Self-RAG 기법 적용: 검색 필요성 판단 → 문서 검색 → 관련성 필터링 → 답변 생성으로 신뢰도 향상.</a:t>
            </a:r>
            <a:endParaRPr lang="en-US" sz="13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63340"/>
            <a:ext cx="237744" cy="237744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822960" y="3602736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목표: 일반인이 사건 직후에도 정확한 법률 정보를 빠르게 확인하고 적절한 초기 대처를 할 수 있도록 지원.</a:t>
            </a:r>
            <a:endParaRPr lang="en-US" sz="1300" dirty="0"/>
          </a:p>
        </p:txBody>
      </p:sp>
      <p:sp>
        <p:nvSpPr>
          <p:cNvPr id="12" name="Shape 5"/>
          <p:cNvSpPr/>
          <p:nvPr/>
        </p:nvSpPr>
        <p:spPr>
          <a:xfrm>
            <a:off x="502920" y="4572000"/>
            <a:ext cx="8138160" cy="292608"/>
          </a:xfrm>
          <a:prstGeom prst="rect">
            <a:avLst/>
          </a:prstGeom>
          <a:solidFill>
            <a:srgbClr val="D8D8D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640080" y="458114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법률 도메인 특화 Self-RAG + RAG vs LLM 비교 출력 + RAGAS 정량 평가</a:t>
            </a:r>
            <a:endParaRPr lang="en-US" sz="1100" dirty="0"/>
          </a:p>
        </p:txBody>
      </p:sp>
      <p:sp>
        <p:nvSpPr>
          <p:cNvPr id="14" name="Freeform 10"/>
          <p:cNvSpPr/>
          <p:nvPr/>
        </p:nvSpPr>
        <p:spPr>
          <a:xfrm>
            <a:off x="6034895" y="-3386909"/>
            <a:ext cx="5798549" cy="5569023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7"/>
          <p:cNvSpPr/>
          <p:nvPr/>
        </p:nvSpPr>
        <p:spPr>
          <a:xfrm>
            <a:off x="-2042542" y="-2543494"/>
            <a:ext cx="4346341" cy="5411028"/>
          </a:xfrm>
          <a:custGeom>
            <a:avLst/>
            <a:gdLst/>
            <a:ahLst/>
            <a:cxnLst/>
            <a:rect l="l" t="t" r="r" b="b"/>
            <a:pathLst>
              <a:path w="6709932" h="6885191">
                <a:moveTo>
                  <a:pt x="0" y="0"/>
                </a:moveTo>
                <a:lnTo>
                  <a:pt x="6709932" y="0"/>
                </a:lnTo>
                <a:lnTo>
                  <a:pt x="6709932" y="6885192"/>
                </a:lnTo>
                <a:lnTo>
                  <a:pt x="0" y="68851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6"/>
          <p:cNvSpPr/>
          <p:nvPr/>
        </p:nvSpPr>
        <p:spPr>
          <a:xfrm>
            <a:off x="6662057" y="-2543494"/>
            <a:ext cx="5565974" cy="5539531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 0"/>
          <p:cNvSpPr/>
          <p:nvPr/>
        </p:nvSpPr>
        <p:spPr>
          <a:xfrm>
            <a:off x="0" y="20116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 스택</a:t>
            </a:r>
            <a:endParaRPr lang="en-US" sz="3800" dirty="0"/>
          </a:p>
        </p:txBody>
      </p:sp>
      <p:graphicFrame>
        <p:nvGraphicFramePr>
          <p:cNvPr id="59" name="표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8399329"/>
              </p:ext>
            </p:extLst>
          </p:nvPr>
        </p:nvGraphicFramePr>
        <p:xfrm>
          <a:off x="420371" y="1080516"/>
          <a:ext cx="8310880" cy="357403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7679">
                  <a:extLst>
                    <a:ext uri="{9D8B030D-6E8A-4147-A177-3AD203B41FA5}">
                      <a16:colId xmlns:a16="http://schemas.microsoft.com/office/drawing/2014/main" val="779130411"/>
                    </a:ext>
                  </a:extLst>
                </a:gridCol>
                <a:gridCol w="4144086">
                  <a:extLst>
                    <a:ext uri="{9D8B030D-6E8A-4147-A177-3AD203B41FA5}">
                      <a16:colId xmlns:a16="http://schemas.microsoft.com/office/drawing/2014/main" val="1003447331"/>
                    </a:ext>
                  </a:extLst>
                </a:gridCol>
                <a:gridCol w="2409115">
                  <a:extLst>
                    <a:ext uri="{9D8B030D-6E8A-4147-A177-3AD203B41FA5}">
                      <a16:colId xmlns:a16="http://schemas.microsoft.com/office/drawing/2014/main" val="1140801755"/>
                    </a:ext>
                  </a:extLst>
                </a:gridCol>
              </a:tblGrid>
              <a:tr h="3966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구분</a:t>
                      </a:r>
                      <a:endParaRPr lang="ko-KR" altLang="en-US" sz="1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기술 스택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비고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16755890"/>
                  </a:ext>
                </a:extLst>
              </a:tr>
              <a:tr h="3718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LLM</a:t>
                      </a:r>
                      <a:endParaRPr lang="ko-KR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smtClean="0"/>
                        <a:t>GPT-4o / GPT-4o-mini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err="1" smtClean="0"/>
                        <a:t>OpenAI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02805"/>
                  </a:ext>
                </a:extLst>
              </a:tr>
              <a:tr h="3718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/>
                        <a:t>임베딩</a:t>
                      </a:r>
                      <a:endParaRPr lang="ko-KR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smtClean="0"/>
                        <a:t>text-embedding-3-large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err="1" smtClean="0"/>
                        <a:t>OpenAI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4823371"/>
                  </a:ext>
                </a:extLst>
              </a:tr>
              <a:tr h="3718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벡터 </a:t>
                      </a:r>
                      <a:r>
                        <a:rPr lang="en-US" altLang="ko-KR" sz="1200" dirty="0" smtClean="0"/>
                        <a:t>DB</a:t>
                      </a:r>
                      <a:endParaRPr lang="ko-KR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smtClean="0"/>
                        <a:t>FAISS (</a:t>
                      </a:r>
                      <a:r>
                        <a:rPr lang="ko-KR" altLang="en-US" sz="1200" dirty="0" smtClean="0"/>
                        <a:t>로컬 저장</a:t>
                      </a:r>
                      <a:r>
                        <a:rPr lang="en-US" altLang="ko-KR" sz="1200" dirty="0" smtClean="0"/>
                        <a:t>/</a:t>
                      </a:r>
                      <a:r>
                        <a:rPr lang="ko-KR" altLang="en-US" sz="1200" dirty="0" smtClean="0"/>
                        <a:t>로드</a:t>
                      </a:r>
                      <a:r>
                        <a:rPr lang="en-US" altLang="ko-KR" sz="1200" dirty="0" smtClean="0"/>
                        <a:t>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err="1" smtClean="0"/>
                        <a:t>속도ㆍ경량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49070"/>
                  </a:ext>
                </a:extLst>
              </a:tr>
              <a:tr h="5742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프레임워크</a:t>
                      </a:r>
                      <a:endParaRPr lang="ko-KR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err="1" smtClean="0"/>
                        <a:t>LangChain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smtClean="0"/>
                        <a:t>RAG </a:t>
                      </a:r>
                      <a:r>
                        <a:rPr lang="ko-KR" altLang="en-US" sz="1200" dirty="0" smtClean="0"/>
                        <a:t>파이프라인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909315"/>
                  </a:ext>
                </a:extLst>
              </a:tr>
              <a:tr h="3718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RAG</a:t>
                      </a:r>
                      <a:r>
                        <a:rPr lang="en-US" altLang="ko-KR" sz="1200" baseline="0" dirty="0" smtClean="0"/>
                        <a:t> </a:t>
                      </a:r>
                      <a:r>
                        <a:rPr lang="ko-KR" altLang="en-US" sz="1200" baseline="0" dirty="0" smtClean="0"/>
                        <a:t>전략</a:t>
                      </a:r>
                      <a:endParaRPr lang="ko-KR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smtClean="0"/>
                        <a:t>Self-RAG</a:t>
                      </a:r>
                      <a:r>
                        <a:rPr lang="en-US" altLang="ko-KR" sz="1200" baseline="0" dirty="0" smtClean="0"/>
                        <a:t> (6</a:t>
                      </a:r>
                      <a:r>
                        <a:rPr lang="ko-KR" altLang="en-US" sz="1200" baseline="0" dirty="0" smtClean="0"/>
                        <a:t>단계</a:t>
                      </a:r>
                      <a:r>
                        <a:rPr lang="en-US" altLang="ko-KR" sz="1200" baseline="0" dirty="0" smtClean="0"/>
                        <a:t>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smtClean="0"/>
                        <a:t>핵심 </a:t>
                      </a:r>
                      <a:r>
                        <a:rPr lang="ko-KR" altLang="en-US" sz="1200" dirty="0" err="1" smtClean="0"/>
                        <a:t>차별점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7023451"/>
                  </a:ext>
                </a:extLst>
              </a:tr>
              <a:tr h="3718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Memory</a:t>
                      </a:r>
                      <a:endParaRPr lang="ko-KR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err="1" smtClean="0"/>
                        <a:t>ConversationBufferWindowMemory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smtClean="0"/>
                        <a:t>최근 </a:t>
                      </a:r>
                      <a:r>
                        <a:rPr lang="en-US" altLang="ko-KR" sz="1200" dirty="0" smtClean="0"/>
                        <a:t>5</a:t>
                      </a:r>
                      <a:r>
                        <a:rPr lang="ko-KR" altLang="en-US" sz="1200" dirty="0" smtClean="0"/>
                        <a:t>턴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116925"/>
                  </a:ext>
                </a:extLst>
              </a:tr>
              <a:tr h="3718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UI</a:t>
                      </a:r>
                      <a:endParaRPr lang="ko-KR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err="1" smtClean="0"/>
                        <a:t>Streamlit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smtClean="0"/>
                        <a:t>RAG vs LLM </a:t>
                      </a:r>
                      <a:r>
                        <a:rPr lang="ko-KR" altLang="en-US" sz="1200" dirty="0" smtClean="0"/>
                        <a:t>비교 출력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209815"/>
                  </a:ext>
                </a:extLst>
              </a:tr>
              <a:tr h="3718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평가</a:t>
                      </a:r>
                      <a:endParaRPr lang="ko-KR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smtClean="0"/>
                        <a:t>RAGAS v0.2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smtClean="0"/>
                        <a:t>Ground</a:t>
                      </a:r>
                      <a:r>
                        <a:rPr lang="en-US" altLang="ko-KR" sz="1200" baseline="0" dirty="0" smtClean="0"/>
                        <a:t> Truth 12</a:t>
                      </a:r>
                      <a:r>
                        <a:rPr lang="ko-KR" altLang="en-US" sz="1200" baseline="0" dirty="0" smtClean="0"/>
                        <a:t>개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553486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reeform 7"/>
          <p:cNvSpPr/>
          <p:nvPr/>
        </p:nvSpPr>
        <p:spPr>
          <a:xfrm>
            <a:off x="6793992" y="-1952850"/>
            <a:ext cx="3934231" cy="5070954"/>
          </a:xfrm>
          <a:custGeom>
            <a:avLst/>
            <a:gdLst/>
            <a:ahLst/>
            <a:cxnLst/>
            <a:rect l="l" t="t" r="r" b="b"/>
            <a:pathLst>
              <a:path w="6709932" h="6885191">
                <a:moveTo>
                  <a:pt x="0" y="0"/>
                </a:moveTo>
                <a:lnTo>
                  <a:pt x="6709932" y="0"/>
                </a:lnTo>
                <a:lnTo>
                  <a:pt x="6709932" y="6885192"/>
                </a:lnTo>
                <a:lnTo>
                  <a:pt x="0" y="68851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 2"/>
          <p:cNvSpPr/>
          <p:nvPr/>
        </p:nvSpPr>
        <p:spPr>
          <a:xfrm>
            <a:off x="320040" y="28346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+mj-ea"/>
                <a:ea typeface="+mj-ea"/>
                <a:cs typeface="Arial Black" pitchFamily="34" charset="-120"/>
              </a:rPr>
              <a:t>Self-RAG 6단계 파이프라인</a:t>
            </a:r>
            <a:endParaRPr lang="en-US" sz="2600" dirty="0">
              <a:latin typeface="+mj-ea"/>
              <a:ea typeface="+mj-ea"/>
            </a:endParaRPr>
          </a:p>
        </p:txBody>
      </p:sp>
      <p:sp>
        <p:nvSpPr>
          <p:cNvPr id="6" name="Text 3"/>
          <p:cNvSpPr/>
          <p:nvPr/>
        </p:nvSpPr>
        <p:spPr>
          <a:xfrm>
            <a:off x="32004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+mj-ea"/>
                <a:ea typeface="+mj-ea"/>
              </a:rPr>
              <a:t>LangChain Pydantic 구조화 출력 — 각 단계에서 LLM이 스스로 판단·평가</a:t>
            </a:r>
          </a:p>
        </p:txBody>
      </p:sp>
      <p:sp>
        <p:nvSpPr>
          <p:cNvPr id="7" name="Shape 4"/>
          <p:cNvSpPr/>
          <p:nvPr/>
        </p:nvSpPr>
        <p:spPr>
          <a:xfrm>
            <a:off x="320040" y="1298448"/>
            <a:ext cx="2743200" cy="1600200"/>
          </a:xfrm>
          <a:prstGeom prst="rect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9768" y="1408176"/>
            <a:ext cx="365760" cy="36576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sp>
        <p:nvSpPr>
          <p:cNvPr id="9" name="Text 6"/>
          <p:cNvSpPr/>
          <p:nvPr/>
        </p:nvSpPr>
        <p:spPr>
          <a:xfrm>
            <a:off x="429768" y="1408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+mj-ea"/>
                <a:ea typeface="+mj-ea"/>
              </a:rPr>
              <a:t>1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68680" y="14264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+mj-ea"/>
                <a:ea typeface="+mj-ea"/>
              </a:rPr>
              <a:t>Retrieve</a:t>
            </a:r>
            <a:endParaRPr lang="en-US" sz="1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29768" y="181051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+mj-ea"/>
                <a:ea typeface="+mj-ea"/>
              </a:rPr>
              <a:t>법률 문서 검색 필요 여부 판단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29768" y="2121408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+mj-ea"/>
                <a:ea typeface="+mj-ea"/>
              </a:rPr>
              <a:t>Yes→검색 / No→직접 생성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264408" y="1298448"/>
            <a:ext cx="2743200" cy="1600200"/>
          </a:xfrm>
          <a:prstGeom prst="rect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74136" y="1408176"/>
            <a:ext cx="365760" cy="36576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sp>
        <p:nvSpPr>
          <p:cNvPr id="15" name="Text 12"/>
          <p:cNvSpPr/>
          <p:nvPr/>
        </p:nvSpPr>
        <p:spPr>
          <a:xfrm>
            <a:off x="3374136" y="1408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+mj-ea"/>
                <a:ea typeface="+mj-ea"/>
              </a:rPr>
              <a:t>2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813048" y="14264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+mj-ea"/>
                <a:ea typeface="+mj-ea"/>
              </a:rPr>
              <a:t>FAISS 검색</a:t>
            </a:r>
            <a:endParaRPr lang="en-US" sz="1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374136" y="181051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+mj-ea"/>
                <a:ea typeface="+mj-ea"/>
              </a:rPr>
              <a:t>유사 법률 문서 Top-K 검색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374136" y="2121408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+mj-ea"/>
                <a:ea typeface="+mj-ea"/>
              </a:rPr>
              <a:t>text-embedding-3-large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208776" y="1280160"/>
            <a:ext cx="2743200" cy="1600200"/>
          </a:xfrm>
          <a:prstGeom prst="rect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18504" y="1408176"/>
            <a:ext cx="365760" cy="36576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sp>
        <p:nvSpPr>
          <p:cNvPr id="21" name="Text 18"/>
          <p:cNvSpPr/>
          <p:nvPr/>
        </p:nvSpPr>
        <p:spPr>
          <a:xfrm>
            <a:off x="6318504" y="1408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+mj-ea"/>
                <a:ea typeface="+mj-ea"/>
              </a:rPr>
              <a:t>3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757416" y="14264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+mj-ea"/>
                <a:ea typeface="+mj-ea"/>
              </a:rPr>
              <a:t>ISREL</a:t>
            </a:r>
            <a:endParaRPr lang="en-US" sz="1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318504" y="181051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+mj-ea"/>
                <a:ea typeface="+mj-ea"/>
              </a:rPr>
              <a:t>문서 관련성 필터링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318504" y="2121408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+mj-ea"/>
                <a:ea typeface="+mj-ea"/>
              </a:rPr>
              <a:t>Relevant / Irrelevant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320040" y="3054096"/>
            <a:ext cx="2743200" cy="1600200"/>
          </a:xfrm>
          <a:prstGeom prst="rect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29768" y="3163824"/>
            <a:ext cx="365760" cy="36576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sp>
        <p:nvSpPr>
          <p:cNvPr id="27" name="Text 24"/>
          <p:cNvSpPr/>
          <p:nvPr/>
        </p:nvSpPr>
        <p:spPr>
          <a:xfrm>
            <a:off x="429768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+mj-ea"/>
                <a:ea typeface="+mj-ea"/>
              </a:rPr>
              <a:t>4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868680" y="3182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+mj-ea"/>
                <a:ea typeface="+mj-ea"/>
              </a:rPr>
              <a:t>답변 생성</a:t>
            </a:r>
            <a:endParaRPr lang="en-US" sz="1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429768" y="356616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+mj-ea"/>
                <a:ea typeface="+mj-ea"/>
              </a:rPr>
              <a:t>관련 문서 기반 답변 작성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429768" y="3877056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+mj-ea"/>
                <a:ea typeface="+mj-ea"/>
              </a:rPr>
              <a:t>대화 이력(Memory) 포함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3264408" y="3054096"/>
            <a:ext cx="2743200" cy="1600200"/>
          </a:xfrm>
          <a:prstGeom prst="rect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374136" y="3163824"/>
            <a:ext cx="365760" cy="36576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sp>
        <p:nvSpPr>
          <p:cNvPr id="33" name="Text 30"/>
          <p:cNvSpPr/>
          <p:nvPr/>
        </p:nvSpPr>
        <p:spPr>
          <a:xfrm>
            <a:off x="3374136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+mj-ea"/>
                <a:ea typeface="+mj-ea"/>
              </a:rPr>
              <a:t>5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3813048" y="3182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+mj-ea"/>
                <a:ea typeface="+mj-ea"/>
              </a:rPr>
              <a:t>ISSUP</a:t>
            </a:r>
            <a:endParaRPr lang="en-US" sz="1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3374136" y="356616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+mj-ea"/>
                <a:ea typeface="+mj-ea"/>
              </a:rPr>
              <a:t>지원도 평가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3374136" y="3877056"/>
            <a:ext cx="23853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+mj-ea"/>
                <a:ea typeface="+mj-ea"/>
              </a:rPr>
              <a:t>Fully / Partially / No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6208776" y="3054096"/>
            <a:ext cx="2743200" cy="1600200"/>
          </a:xfrm>
          <a:prstGeom prst="rect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318504" y="3163824"/>
            <a:ext cx="365760" cy="36576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sp>
        <p:nvSpPr>
          <p:cNvPr id="39" name="Text 36"/>
          <p:cNvSpPr/>
          <p:nvPr/>
        </p:nvSpPr>
        <p:spPr>
          <a:xfrm>
            <a:off x="6318504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+mj-ea"/>
                <a:ea typeface="+mj-ea"/>
              </a:rPr>
              <a:t>6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6757416" y="3182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+mj-ea"/>
                <a:ea typeface="+mj-ea"/>
              </a:rPr>
              <a:t>ISUSE</a:t>
            </a:r>
            <a:endParaRPr lang="en-US" sz="1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6318504" y="356616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+mj-ea"/>
                <a:ea typeface="+mj-ea"/>
              </a:rPr>
              <a:t>유용성 점수 (1~5)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6318504" y="3877056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+mj-ea"/>
                <a:ea typeface="+mj-ea"/>
              </a:rPr>
              <a:t>최적 답변 선택 → 출력</a:t>
            </a:r>
            <a:endParaRPr lang="en-US" sz="1100" dirty="0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5"/>
          <p:cNvSpPr/>
          <p:nvPr/>
        </p:nvSpPr>
        <p:spPr>
          <a:xfrm>
            <a:off x="7251788" y="-1810144"/>
            <a:ext cx="3784423" cy="432227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5" name="Text 2"/>
          <p:cNvSpPr/>
          <p:nvPr/>
        </p:nvSpPr>
        <p:spPr>
          <a:xfrm>
            <a:off x="365760" y="17678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 vs LLM 비교 출력 UI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365760" y="745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동일 질문에 대해 Self-RAG 답변과 순수 LLM 답변을 나란히 출력 — 차이를 즉시 확인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1261872"/>
            <a:ext cx="4114800" cy="38404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2618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FFFFFF"/>
                </a:solidFill>
              </a:rPr>
              <a:t> </a:t>
            </a:r>
            <a:r>
              <a:rPr lang="en-US" sz="1100" b="1" dirty="0">
                <a:solidFill>
                  <a:srgbClr val="FFFFFF"/>
                </a:solidFill>
              </a:rPr>
              <a:t>Self-RAG 답변  |  법률 문서 기반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1645920"/>
            <a:ext cx="4114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7878" y="1868424"/>
            <a:ext cx="3676650" cy="1448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 err="1" smtClean="0"/>
              <a:t>법률</a:t>
            </a:r>
            <a:r>
              <a:rPr lang="en-US" sz="1000" b="1" dirty="0" smtClean="0"/>
              <a:t> </a:t>
            </a:r>
            <a:r>
              <a:rPr lang="en-US" sz="1000" b="1" dirty="0"/>
              <a:t>문서에서 </a:t>
            </a:r>
            <a:r>
              <a:rPr lang="en-US" sz="1000" b="1" dirty="0" err="1"/>
              <a:t>직접</a:t>
            </a:r>
            <a:r>
              <a:rPr lang="en-US" sz="1000" b="1" dirty="0"/>
              <a:t> </a:t>
            </a:r>
            <a:r>
              <a:rPr lang="en-US" sz="1000" b="1" dirty="0" err="1" smtClean="0"/>
              <a:t>검색</a:t>
            </a:r>
            <a:endParaRPr lang="en-US" sz="1000" b="1" dirty="0" smtClean="0"/>
          </a:p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
</a:t>
            </a:r>
            <a:r>
              <a:rPr lang="en-US" sz="1000" dirty="0">
                <a:solidFill>
                  <a:srgbClr val="1A1A1A"/>
                </a:solidFill>
              </a:rPr>
              <a:t>민법 제750조에 따라 </a:t>
            </a:r>
            <a:r>
              <a:rPr lang="en-US" sz="1000" dirty="0" err="1">
                <a:solidFill>
                  <a:srgbClr val="1A1A1A"/>
                </a:solidFill>
              </a:rPr>
              <a:t>교통사고</a:t>
            </a:r>
            <a:r>
              <a:rPr lang="en-US" sz="1000" dirty="0">
                <a:solidFill>
                  <a:srgbClr val="1A1A1A"/>
                </a:solidFill>
              </a:rPr>
              <a:t> </a:t>
            </a:r>
            <a:r>
              <a:rPr lang="en-US" sz="1000" dirty="0" err="1" smtClean="0">
                <a:solidFill>
                  <a:srgbClr val="1A1A1A"/>
                </a:solidFill>
              </a:rPr>
              <a:t>피해자는</a:t>
            </a:r>
            <a:r>
              <a:rPr lang="en-US" sz="1000" dirty="0"/>
              <a:t> </a:t>
            </a:r>
            <a:r>
              <a:rPr lang="en-US" sz="1000" dirty="0" err="1" smtClean="0">
                <a:solidFill>
                  <a:srgbClr val="1A1A1A"/>
                </a:solidFill>
              </a:rPr>
              <a:t>가해자</a:t>
            </a:r>
            <a:r>
              <a:rPr lang="en-US" sz="1000" dirty="0" smtClean="0">
                <a:solidFill>
                  <a:srgbClr val="1A1A1A"/>
                </a:solidFill>
              </a:rPr>
              <a:t> </a:t>
            </a:r>
            <a:r>
              <a:rPr lang="en-US" sz="1000" dirty="0">
                <a:solidFill>
                  <a:srgbClr val="1A1A1A"/>
                </a:solidFill>
              </a:rPr>
              <a:t>및 보험사에 치료비, </a:t>
            </a:r>
            <a:r>
              <a:rPr lang="en-US" sz="1000" dirty="0" err="1">
                <a:solidFill>
                  <a:srgbClr val="1A1A1A"/>
                </a:solidFill>
              </a:rPr>
              <a:t>휴업손해</a:t>
            </a:r>
            <a:r>
              <a:rPr lang="en-US" sz="1000" dirty="0" smtClean="0">
                <a:solidFill>
                  <a:srgbClr val="1A1A1A"/>
                </a:solidFill>
              </a:rPr>
              <a:t>,</a:t>
            </a:r>
            <a:r>
              <a:rPr lang="en-US" sz="1000" dirty="0"/>
              <a:t> </a:t>
            </a:r>
            <a:r>
              <a:rPr lang="en-US" sz="1000" dirty="0" err="1" smtClean="0">
                <a:solidFill>
                  <a:srgbClr val="1A1A1A"/>
                </a:solidFill>
              </a:rPr>
              <a:t>위자료를</a:t>
            </a:r>
            <a:r>
              <a:rPr lang="en-US" sz="1000" dirty="0" smtClean="0">
                <a:solidFill>
                  <a:srgbClr val="1A1A1A"/>
                </a:solidFill>
              </a:rPr>
              <a:t> </a:t>
            </a:r>
            <a:r>
              <a:rPr lang="en-US" sz="1000" dirty="0">
                <a:solidFill>
                  <a:srgbClr val="1A1A1A"/>
                </a:solidFill>
              </a:rPr>
              <a:t>청구할 수 있습니다.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손해배상 소멸시효는 불법행위를 안 </a:t>
            </a:r>
            <a:r>
              <a:rPr lang="en-US" sz="1000" dirty="0" err="1" smtClean="0">
                <a:solidFill>
                  <a:srgbClr val="1A1A1A"/>
                </a:solidFill>
              </a:rPr>
              <a:t>날로부터</a:t>
            </a:r>
            <a:r>
              <a:rPr lang="en-US" sz="1000" dirty="0" smtClean="0">
                <a:solidFill>
                  <a:srgbClr val="1A1A1A"/>
                </a:solidFill>
              </a:rPr>
              <a:t> </a:t>
            </a:r>
            <a:r>
              <a:rPr lang="en-US" sz="1000" dirty="0">
                <a:solidFill>
                  <a:srgbClr val="1A1A1A"/>
                </a:solidFill>
              </a:rPr>
              <a:t>3년입니다.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4041648"/>
            <a:ext cx="1463040" cy="219456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40507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smtClean="0">
                <a:solidFill>
                  <a:schemeClr val="bg1"/>
                </a:solidFill>
              </a:rPr>
              <a:t>Self-RAG </a:t>
            </a:r>
            <a:r>
              <a:rPr lang="en-US" sz="800" dirty="0">
                <a:solidFill>
                  <a:schemeClr val="bg1"/>
                </a:solidFill>
              </a:rPr>
              <a:t>(문서 기반)</a:t>
            </a:r>
          </a:p>
        </p:txBody>
      </p:sp>
      <p:sp>
        <p:nvSpPr>
          <p:cNvPr id="15" name="Shape 12"/>
          <p:cNvSpPr/>
          <p:nvPr/>
        </p:nvSpPr>
        <p:spPr>
          <a:xfrm>
            <a:off x="4663440" y="1261872"/>
            <a:ext cx="4114800" cy="38404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0" y="12618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FFFFFF"/>
                </a:solidFill>
              </a:rPr>
              <a:t> </a:t>
            </a:r>
            <a:r>
              <a:rPr lang="en-US" sz="1100" b="1" dirty="0">
                <a:solidFill>
                  <a:srgbClr val="FFFFFF"/>
                </a:solidFill>
              </a:rPr>
              <a:t>순수 LLM 답변  |  학습 지식만 사용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63440" y="1645920"/>
            <a:ext cx="4114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46320" y="1866900"/>
            <a:ext cx="374904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 err="1" smtClean="0"/>
              <a:t>문서</a:t>
            </a:r>
            <a:r>
              <a:rPr lang="en-US" sz="1000" b="1" dirty="0" smtClean="0"/>
              <a:t> </a:t>
            </a:r>
            <a:r>
              <a:rPr lang="en-US" sz="1000" b="1" dirty="0"/>
              <a:t>검색 없이 학습 </a:t>
            </a:r>
            <a:r>
              <a:rPr lang="en-US" sz="1000" b="1" dirty="0" err="1"/>
              <a:t>데이터만</a:t>
            </a:r>
            <a:r>
              <a:rPr lang="en-US" sz="1000" b="1" dirty="0"/>
              <a:t> </a:t>
            </a:r>
            <a:r>
              <a:rPr lang="en-US" sz="1000" b="1" dirty="0" err="1" smtClean="0"/>
              <a:t>활용</a:t>
            </a:r>
            <a:endParaRPr lang="en-US" sz="1000" b="1" dirty="0" smtClean="0"/>
          </a:p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
</a:t>
            </a:r>
            <a:r>
              <a:rPr lang="en-US" sz="1000" dirty="0">
                <a:solidFill>
                  <a:srgbClr val="1A1A1A"/>
                </a:solidFill>
              </a:rPr>
              <a:t>교통사고 피해자는 </a:t>
            </a:r>
            <a:r>
              <a:rPr lang="en-US" sz="1000" dirty="0" err="1">
                <a:solidFill>
                  <a:srgbClr val="1A1A1A"/>
                </a:solidFill>
              </a:rPr>
              <a:t>상대방</a:t>
            </a:r>
            <a:r>
              <a:rPr lang="en-US" sz="1000" dirty="0">
                <a:solidFill>
                  <a:srgbClr val="1A1A1A"/>
                </a:solidFill>
              </a:rPr>
              <a:t> </a:t>
            </a:r>
            <a:r>
              <a:rPr lang="en-US" sz="1000" dirty="0" err="1" smtClean="0">
                <a:solidFill>
                  <a:srgbClr val="1A1A1A"/>
                </a:solidFill>
              </a:rPr>
              <a:t>보험사와</a:t>
            </a:r>
            <a:r>
              <a:rPr lang="en-US" sz="1000" dirty="0"/>
              <a:t> </a:t>
            </a:r>
            <a:r>
              <a:rPr lang="en-US" sz="1000" dirty="0" err="1" smtClean="0">
                <a:solidFill>
                  <a:srgbClr val="1A1A1A"/>
                </a:solidFill>
              </a:rPr>
              <a:t>합의하거나</a:t>
            </a:r>
            <a:r>
              <a:rPr lang="en-US" sz="1000" dirty="0" smtClean="0">
                <a:solidFill>
                  <a:srgbClr val="1A1A1A"/>
                </a:solidFill>
              </a:rPr>
              <a:t> </a:t>
            </a:r>
            <a:r>
              <a:rPr lang="en-US" sz="1000" dirty="0">
                <a:solidFill>
                  <a:srgbClr val="1A1A1A"/>
                </a:solidFill>
              </a:rPr>
              <a:t>민사소송을 </a:t>
            </a:r>
            <a:r>
              <a:rPr lang="en-US" sz="1000" dirty="0" err="1">
                <a:solidFill>
                  <a:srgbClr val="1A1A1A"/>
                </a:solidFill>
              </a:rPr>
              <a:t>통해</a:t>
            </a:r>
            <a:r>
              <a:rPr lang="en-US" sz="1000" dirty="0">
                <a:solidFill>
                  <a:srgbClr val="1A1A1A"/>
                </a:solidFill>
              </a:rPr>
              <a:t> </a:t>
            </a:r>
            <a:r>
              <a:rPr lang="en-US" sz="1000" dirty="0" err="1" smtClean="0">
                <a:solidFill>
                  <a:srgbClr val="1A1A1A"/>
                </a:solidFill>
              </a:rPr>
              <a:t>손해배상을</a:t>
            </a:r>
            <a:r>
              <a:rPr lang="en-US" sz="1000" dirty="0"/>
              <a:t> </a:t>
            </a:r>
            <a:r>
              <a:rPr lang="en-US" sz="1000" dirty="0" err="1" smtClean="0">
                <a:solidFill>
                  <a:srgbClr val="1A1A1A"/>
                </a:solidFill>
              </a:rPr>
              <a:t>청구할</a:t>
            </a:r>
            <a:r>
              <a:rPr lang="en-US" sz="1000" dirty="0" smtClean="0">
                <a:solidFill>
                  <a:srgbClr val="1A1A1A"/>
                </a:solidFill>
              </a:rPr>
              <a:t> </a:t>
            </a:r>
            <a:r>
              <a:rPr lang="en-US" sz="1000" dirty="0">
                <a:solidFill>
                  <a:srgbClr val="1A1A1A"/>
                </a:solidFill>
              </a:rPr>
              <a:t>수 있습니다.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구체적인 법 조항이나 </a:t>
            </a:r>
            <a:r>
              <a:rPr lang="en-US" sz="1000" dirty="0" err="1">
                <a:solidFill>
                  <a:srgbClr val="1A1A1A"/>
                </a:solidFill>
              </a:rPr>
              <a:t>최신</a:t>
            </a:r>
            <a:r>
              <a:rPr lang="en-US" sz="1000" dirty="0">
                <a:solidFill>
                  <a:srgbClr val="1A1A1A"/>
                </a:solidFill>
              </a:rPr>
              <a:t> </a:t>
            </a:r>
            <a:r>
              <a:rPr lang="en-US" sz="1000" dirty="0" err="1" smtClean="0">
                <a:solidFill>
                  <a:srgbClr val="1A1A1A"/>
                </a:solidFill>
              </a:rPr>
              <a:t>판례는</a:t>
            </a:r>
            <a:r>
              <a:rPr lang="en-US" sz="1000" dirty="0"/>
              <a:t> </a:t>
            </a:r>
            <a:r>
              <a:rPr lang="en-US" sz="1000" dirty="0" err="1" smtClean="0">
                <a:solidFill>
                  <a:srgbClr val="1A1A1A"/>
                </a:solidFill>
              </a:rPr>
              <a:t>확인이</a:t>
            </a:r>
            <a:r>
              <a:rPr lang="en-US" sz="1000" dirty="0" smtClean="0">
                <a:solidFill>
                  <a:srgbClr val="1A1A1A"/>
                </a:solidFill>
              </a:rPr>
              <a:t> </a:t>
            </a:r>
            <a:r>
              <a:rPr lang="en-US" sz="1000" dirty="0">
                <a:solidFill>
                  <a:srgbClr val="1A1A1A"/>
                </a:solidFill>
              </a:rPr>
              <a:t>필요합니다.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63440" y="4041648"/>
            <a:ext cx="1463040" cy="21945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63440" y="40507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err="1" smtClean="0">
                <a:solidFill>
                  <a:schemeClr val="bg1"/>
                </a:solidFill>
              </a:rPr>
              <a:t>순수</a:t>
            </a:r>
            <a:r>
              <a:rPr lang="en-US" sz="800" dirty="0" smtClean="0">
                <a:solidFill>
                  <a:schemeClr val="bg1"/>
                </a:solidFill>
              </a:rPr>
              <a:t> </a:t>
            </a:r>
            <a:r>
              <a:rPr lang="en-US" sz="800" dirty="0">
                <a:solidFill>
                  <a:schemeClr val="bg1"/>
                </a:solidFill>
              </a:rPr>
              <a:t>LLM (RAG 없음)</a:t>
            </a:r>
          </a:p>
        </p:txBody>
      </p:sp>
      <p:sp>
        <p:nvSpPr>
          <p:cNvPr id="21" name="Shape 18"/>
          <p:cNvSpPr/>
          <p:nvPr/>
        </p:nvSpPr>
        <p:spPr>
          <a:xfrm>
            <a:off x="365760" y="4370832"/>
            <a:ext cx="8412480" cy="4572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44074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/>
              <a:t>💡 Self-RAG: 법 조항 명시·근거 문서 기반 → 할루시네이션 억제  |  LLM: 빠르지만 최신 법령 미반영·불확실성 높음</a:t>
            </a:r>
          </a:p>
        </p:txBody>
      </p:sp>
      <p:sp>
        <p:nvSpPr>
          <p:cNvPr id="13" name="Shape 10"/>
          <p:cNvSpPr/>
          <p:nvPr/>
        </p:nvSpPr>
        <p:spPr>
          <a:xfrm>
            <a:off x="4408424" y="2487168"/>
            <a:ext cx="329184" cy="32918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4" name="Text 11"/>
          <p:cNvSpPr/>
          <p:nvPr/>
        </p:nvSpPr>
        <p:spPr>
          <a:xfrm>
            <a:off x="4407408" y="2487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5"/>
          <p:cNvSpPr/>
          <p:nvPr/>
        </p:nvSpPr>
        <p:spPr>
          <a:xfrm>
            <a:off x="7251788" y="-1810144"/>
            <a:ext cx="3784423" cy="432227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5" name="Text 2"/>
          <p:cNvSpPr/>
          <p:nvPr/>
        </p:nvSpPr>
        <p:spPr>
          <a:xfrm>
            <a:off x="365760" y="17678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 vs LLM 비교 출력 UI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365760" y="745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동일 질문에 대해 Self-RAG 답변과 순수 LLM 답변을 나란히 출력 — 차이를 즉시 확인</a:t>
            </a:r>
            <a:endParaRPr lang="en-US" sz="12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" y="1185534"/>
            <a:ext cx="7649029" cy="3606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285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reeform 5"/>
          <p:cNvSpPr/>
          <p:nvPr/>
        </p:nvSpPr>
        <p:spPr>
          <a:xfrm>
            <a:off x="6858000" y="-1886629"/>
            <a:ext cx="4653901" cy="4611541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9" name="Freeform 5"/>
          <p:cNvSpPr/>
          <p:nvPr/>
        </p:nvSpPr>
        <p:spPr>
          <a:xfrm>
            <a:off x="-1942903" y="2542032"/>
            <a:ext cx="4708765" cy="4990001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7" name="Shape 14"/>
          <p:cNvSpPr/>
          <p:nvPr/>
        </p:nvSpPr>
        <p:spPr>
          <a:xfrm>
            <a:off x="6757416" y="1261872"/>
            <a:ext cx="201168" cy="128016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13" name="Shape 10"/>
          <p:cNvSpPr/>
          <p:nvPr/>
        </p:nvSpPr>
        <p:spPr>
          <a:xfrm>
            <a:off x="4544568" y="1261872"/>
            <a:ext cx="201168" cy="128016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9" name="Shape 6"/>
          <p:cNvSpPr/>
          <p:nvPr/>
        </p:nvSpPr>
        <p:spPr>
          <a:xfrm>
            <a:off x="2331720" y="1261872"/>
            <a:ext cx="201168" cy="128016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5" name="Text 2"/>
          <p:cNvSpPr/>
          <p:nvPr/>
        </p:nvSpPr>
        <p:spPr>
          <a:xfrm>
            <a:off x="320040" y="21259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RAGAS 평가 — 데이터셋 &amp; 방법론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005840"/>
            <a:ext cx="2011680" cy="65836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10424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/>
              <a:t>질문 + Ground Truth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20040" y="13716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12개 준비</a:t>
            </a:r>
          </a:p>
        </p:txBody>
      </p:sp>
      <p:sp>
        <p:nvSpPr>
          <p:cNvPr id="10" name="Shape 7"/>
          <p:cNvSpPr/>
          <p:nvPr/>
        </p:nvSpPr>
        <p:spPr>
          <a:xfrm>
            <a:off x="2532888" y="1005840"/>
            <a:ext cx="2011680" cy="65836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32888" y="10424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/>
              <a:t>FAISS 벡터DB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532888" y="13716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문서 검색 (K=4)</a:t>
            </a:r>
          </a:p>
        </p:txBody>
      </p:sp>
      <p:sp>
        <p:nvSpPr>
          <p:cNvPr id="14" name="Shape 11"/>
          <p:cNvSpPr/>
          <p:nvPr/>
        </p:nvSpPr>
        <p:spPr>
          <a:xfrm>
            <a:off x="4745736" y="1005840"/>
            <a:ext cx="2011680" cy="658368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45736" y="10424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GPT-4o-mini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4745736" y="13716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답변 생성</a:t>
            </a:r>
          </a:p>
        </p:txBody>
      </p:sp>
      <p:sp>
        <p:nvSpPr>
          <p:cNvPr id="18" name="Shape 15"/>
          <p:cNvSpPr/>
          <p:nvPr/>
        </p:nvSpPr>
        <p:spPr>
          <a:xfrm>
            <a:off x="6958584" y="1005840"/>
            <a:ext cx="2011680" cy="65836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58584" y="10424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RAGAS evaluate()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958584" y="13716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4가지 지표 산출</a:t>
            </a:r>
          </a:p>
        </p:txBody>
      </p:sp>
      <p:sp>
        <p:nvSpPr>
          <p:cNvPr id="21" name="Shape 18"/>
          <p:cNvSpPr/>
          <p:nvPr/>
        </p:nvSpPr>
        <p:spPr>
          <a:xfrm>
            <a:off x="320040" y="1865376"/>
            <a:ext cx="2011680" cy="2651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69848" y="1993392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320040" y="2468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/>
              <a:t>Faithfulness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20040" y="27066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충실도</a:t>
            </a:r>
          </a:p>
        </p:txBody>
      </p:sp>
      <p:sp>
        <p:nvSpPr>
          <p:cNvPr id="26" name="Text 23"/>
          <p:cNvSpPr/>
          <p:nvPr/>
        </p:nvSpPr>
        <p:spPr>
          <a:xfrm>
            <a:off x="411480" y="313994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답변이 검색 문서에 근거?</a:t>
            </a:r>
          </a:p>
          <a:p>
            <a:pPr marL="0" indent="0" algn="ctr">
              <a:buNone/>
            </a:pPr>
            <a:r>
              <a:rPr lang="en-US" sz="900" dirty="0"/>
              <a:t>환각 방지 핵심 지표</a:t>
            </a:r>
          </a:p>
        </p:txBody>
      </p:sp>
      <p:sp>
        <p:nvSpPr>
          <p:cNvPr id="27" name="Text 24"/>
          <p:cNvSpPr/>
          <p:nvPr/>
        </p:nvSpPr>
        <p:spPr>
          <a:xfrm>
            <a:off x="411480" y="41970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/>
              <a:t>기준: 0.8↑ 우수 / 0.6↓ 개선</a:t>
            </a:r>
          </a:p>
        </p:txBody>
      </p:sp>
      <p:sp>
        <p:nvSpPr>
          <p:cNvPr id="28" name="Shape 25"/>
          <p:cNvSpPr/>
          <p:nvPr/>
        </p:nvSpPr>
        <p:spPr>
          <a:xfrm>
            <a:off x="2532888" y="1865376"/>
            <a:ext cx="2011680" cy="265176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282696" y="1993392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2532888" y="2468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/>
              <a:t>Answer Relevancy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532888" y="27066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답변 관련성</a:t>
            </a:r>
          </a:p>
        </p:txBody>
      </p:sp>
      <p:sp>
        <p:nvSpPr>
          <p:cNvPr id="33" name="Text 30"/>
          <p:cNvSpPr/>
          <p:nvPr/>
        </p:nvSpPr>
        <p:spPr>
          <a:xfrm>
            <a:off x="2624328" y="314274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답변이 질문에 얼마나</a:t>
            </a:r>
          </a:p>
          <a:p>
            <a:pPr marL="0" indent="0" algn="ctr">
              <a:buNone/>
            </a:pPr>
            <a:r>
              <a:rPr lang="en-US" sz="900" dirty="0"/>
              <a:t>직접 대응하는가</a:t>
            </a:r>
          </a:p>
        </p:txBody>
      </p:sp>
      <p:sp>
        <p:nvSpPr>
          <p:cNvPr id="34" name="Text 31"/>
          <p:cNvSpPr/>
          <p:nvPr/>
        </p:nvSpPr>
        <p:spPr>
          <a:xfrm>
            <a:off x="2624328" y="41970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/>
              <a:t>기준: 0.8↑ 우수 / 0.6↓ 개선</a:t>
            </a:r>
          </a:p>
        </p:txBody>
      </p:sp>
      <p:sp>
        <p:nvSpPr>
          <p:cNvPr id="35" name="Shape 32"/>
          <p:cNvSpPr/>
          <p:nvPr/>
        </p:nvSpPr>
        <p:spPr>
          <a:xfrm>
            <a:off x="4745736" y="1865376"/>
            <a:ext cx="2011680" cy="2651760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495544" y="1993392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38" name="Text 35"/>
          <p:cNvSpPr/>
          <p:nvPr/>
        </p:nvSpPr>
        <p:spPr>
          <a:xfrm>
            <a:off x="4745736" y="2468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Context Precision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9" name="Text 36"/>
          <p:cNvSpPr/>
          <p:nvPr/>
        </p:nvSpPr>
        <p:spPr>
          <a:xfrm>
            <a:off x="4745736" y="27066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문맥 정밀도</a:t>
            </a:r>
          </a:p>
        </p:txBody>
      </p:sp>
      <p:sp>
        <p:nvSpPr>
          <p:cNvPr id="40" name="Text 37"/>
          <p:cNvSpPr/>
          <p:nvPr/>
        </p:nvSpPr>
        <p:spPr>
          <a:xfrm>
            <a:off x="4837176" y="314274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검색 청크 중 관련 있는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것이 상위에 있는가</a:t>
            </a:r>
          </a:p>
        </p:txBody>
      </p:sp>
      <p:sp>
        <p:nvSpPr>
          <p:cNvPr id="41" name="Text 38"/>
          <p:cNvSpPr/>
          <p:nvPr/>
        </p:nvSpPr>
        <p:spPr>
          <a:xfrm>
            <a:off x="4837176" y="41970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chemeClr val="bg1"/>
                </a:solidFill>
              </a:rPr>
              <a:t>기준: 0.8↑ 우수 / 0.6↓ 개선</a:t>
            </a:r>
          </a:p>
        </p:txBody>
      </p:sp>
      <p:sp>
        <p:nvSpPr>
          <p:cNvPr id="42" name="Shape 39"/>
          <p:cNvSpPr/>
          <p:nvPr/>
        </p:nvSpPr>
        <p:spPr>
          <a:xfrm>
            <a:off x="6958584" y="1865376"/>
            <a:ext cx="2011680" cy="2651760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708392" y="1993392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45" name="Text 42"/>
          <p:cNvSpPr/>
          <p:nvPr/>
        </p:nvSpPr>
        <p:spPr>
          <a:xfrm>
            <a:off x="6958584" y="2468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Context Recall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6" name="Text 43"/>
          <p:cNvSpPr/>
          <p:nvPr/>
        </p:nvSpPr>
        <p:spPr>
          <a:xfrm>
            <a:off x="6958584" y="27066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문맥 재현율</a:t>
            </a:r>
          </a:p>
        </p:txBody>
      </p:sp>
      <p:sp>
        <p:nvSpPr>
          <p:cNvPr id="47" name="Text 44"/>
          <p:cNvSpPr/>
          <p:nvPr/>
        </p:nvSpPr>
        <p:spPr>
          <a:xfrm>
            <a:off x="7050024" y="298094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정답에 필요한 정보가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검색 문맥에 포함됐는가</a:t>
            </a:r>
          </a:p>
        </p:txBody>
      </p:sp>
      <p:sp>
        <p:nvSpPr>
          <p:cNvPr id="48" name="Text 45"/>
          <p:cNvSpPr/>
          <p:nvPr/>
        </p:nvSpPr>
        <p:spPr>
          <a:xfrm>
            <a:off x="7050024" y="41970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chemeClr val="bg1"/>
                </a:solidFill>
              </a:rPr>
              <a:t>기준: 0.8↑ 우수 / 0.6↓ 개선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/>
          <p:cNvSpPr/>
          <p:nvPr/>
        </p:nvSpPr>
        <p:spPr>
          <a:xfrm>
            <a:off x="-3488239" y="1853448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5"/>
          <p:cNvSpPr/>
          <p:nvPr/>
        </p:nvSpPr>
        <p:spPr>
          <a:xfrm>
            <a:off x="7046535" y="-645207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5" name="Text 2"/>
          <p:cNvSpPr/>
          <p:nvPr/>
        </p:nvSpPr>
        <p:spPr>
          <a:xfrm>
            <a:off x="320040" y="173736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12개 질문별 전체 RAGAS 점수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320040" y="67183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chunk_size=400 / overlap=80 / Top-K=4 / GPT-4o-mini / text-embedding-3-large</a:t>
            </a:r>
            <a:endParaRPr lang="en-US" sz="900" dirty="0"/>
          </a:p>
        </p:txBody>
      </p:sp>
      <p:graphicFrame>
        <p:nvGraphicFramePr>
          <p:cNvPr id="176" name="표 1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039057"/>
              </p:ext>
            </p:extLst>
          </p:nvPr>
        </p:nvGraphicFramePr>
        <p:xfrm>
          <a:off x="320040" y="1054374"/>
          <a:ext cx="8398511" cy="3765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164">
                  <a:extLst>
                    <a:ext uri="{9D8B030D-6E8A-4147-A177-3AD203B41FA5}">
                      <a16:colId xmlns:a16="http://schemas.microsoft.com/office/drawing/2014/main" val="2406763607"/>
                    </a:ext>
                  </a:extLst>
                </a:gridCol>
                <a:gridCol w="3690315">
                  <a:extLst>
                    <a:ext uri="{9D8B030D-6E8A-4147-A177-3AD203B41FA5}">
                      <a16:colId xmlns:a16="http://schemas.microsoft.com/office/drawing/2014/main" val="1595622608"/>
                    </a:ext>
                  </a:extLst>
                </a:gridCol>
                <a:gridCol w="1058928">
                  <a:extLst>
                    <a:ext uri="{9D8B030D-6E8A-4147-A177-3AD203B41FA5}">
                      <a16:colId xmlns:a16="http://schemas.microsoft.com/office/drawing/2014/main" val="990867944"/>
                    </a:ext>
                  </a:extLst>
                </a:gridCol>
                <a:gridCol w="1024209">
                  <a:extLst>
                    <a:ext uri="{9D8B030D-6E8A-4147-A177-3AD203B41FA5}">
                      <a16:colId xmlns:a16="http://schemas.microsoft.com/office/drawing/2014/main" val="675394000"/>
                    </a:ext>
                  </a:extLst>
                </a:gridCol>
                <a:gridCol w="1058928">
                  <a:extLst>
                    <a:ext uri="{9D8B030D-6E8A-4147-A177-3AD203B41FA5}">
                      <a16:colId xmlns:a16="http://schemas.microsoft.com/office/drawing/2014/main" val="3489106861"/>
                    </a:ext>
                  </a:extLst>
                </a:gridCol>
                <a:gridCol w="1084967">
                  <a:extLst>
                    <a:ext uri="{9D8B030D-6E8A-4147-A177-3AD203B41FA5}">
                      <a16:colId xmlns:a16="http://schemas.microsoft.com/office/drawing/2014/main" val="1707736917"/>
                    </a:ext>
                  </a:extLst>
                </a:gridCol>
              </a:tblGrid>
              <a:tr h="2855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#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 smtClean="0"/>
                        <a:t>질문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 smtClean="0"/>
                        <a:t>Faith.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 err="1" smtClean="0"/>
                        <a:t>Ans.Rel</a:t>
                      </a:r>
                      <a:r>
                        <a:rPr lang="en-US" altLang="ko-KR" sz="1000" dirty="0" smtClean="0"/>
                        <a:t>.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 err="1" smtClean="0"/>
                        <a:t>Ctx.Pre</a:t>
                      </a:r>
                      <a:r>
                        <a:rPr lang="en-US" altLang="ko-KR" sz="1000" dirty="0" smtClean="0"/>
                        <a:t>.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 err="1" smtClean="0"/>
                        <a:t>Ctx.Rec</a:t>
                      </a:r>
                      <a:r>
                        <a:rPr lang="en-US" altLang="ko-KR" sz="1000" dirty="0" smtClean="0"/>
                        <a:t>.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7640051"/>
                  </a:ext>
                </a:extLst>
              </a:tr>
              <a:tr h="267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1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smtClean="0"/>
                        <a:t>교통사고 손해배상 청구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0.93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0.91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0.83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0.87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311471"/>
                  </a:ext>
                </a:extLst>
              </a:tr>
              <a:tr h="267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2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smtClean="0"/>
                        <a:t>전세 보증금 반환 청구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0.88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0.85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0.75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0.80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278294"/>
                  </a:ext>
                </a:extLst>
              </a:tr>
              <a:tr h="267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3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smtClean="0"/>
                        <a:t>부당해고 구제 방법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0.91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0.88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0.85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055640"/>
                  </a:ext>
                </a:extLst>
              </a:tr>
              <a:tr h="267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4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smtClean="0"/>
                        <a:t>온라인 사기 고소 절차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0.85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0.90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0.72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0.79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4707237"/>
                  </a:ext>
                </a:extLst>
              </a:tr>
              <a:tr h="267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5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smtClean="0"/>
                        <a:t>폭행 피해 고소 방법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0.94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0.87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0.85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0.88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71237"/>
                  </a:ext>
                </a:extLst>
              </a:tr>
              <a:tr h="267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6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smtClean="0"/>
                        <a:t>계약 불이행 대응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0.87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0.83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0.74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0.78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9042647"/>
                  </a:ext>
                </a:extLst>
              </a:tr>
              <a:tr h="267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7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smtClean="0"/>
                        <a:t>명예훼손 고소 대응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0.82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0.86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0.70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0.76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164068"/>
                  </a:ext>
                </a:extLst>
              </a:tr>
              <a:tr h="267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8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smtClean="0"/>
                        <a:t>이혼 재산 분할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0.89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0.84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0.78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0.83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0715059"/>
                  </a:ext>
                </a:extLst>
              </a:tr>
              <a:tr h="267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9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smtClean="0"/>
                        <a:t>임금 체불 법적 조치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0.90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0.89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0.81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0.84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924030"/>
                  </a:ext>
                </a:extLst>
              </a:tr>
              <a:tr h="267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10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smtClean="0"/>
                        <a:t>개인정보 유출 대응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0.86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0.88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0.73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0.80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16129"/>
                  </a:ext>
                </a:extLst>
              </a:tr>
              <a:tr h="267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11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err="1" smtClean="0"/>
                        <a:t>스토킹</a:t>
                      </a:r>
                      <a:r>
                        <a:rPr lang="ko-KR" altLang="en-US" sz="900" dirty="0" smtClean="0"/>
                        <a:t> 법적 보호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0.92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0.85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0.82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0.86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370062"/>
                  </a:ext>
                </a:extLst>
              </a:tr>
              <a:tr h="267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12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smtClean="0"/>
                        <a:t>소비자 피해 환불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0.84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0.90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0.76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0.81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962798"/>
                  </a:ext>
                </a:extLst>
              </a:tr>
              <a:tr h="267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 smtClean="0"/>
                        <a:t>avg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smtClean="0"/>
                        <a:t>전체 평균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0.8842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0.8717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0.7742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/>
                        <a:t>0.8225</a:t>
                      </a:r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62002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5"/>
          <p:cNvSpPr/>
          <p:nvPr/>
        </p:nvSpPr>
        <p:spPr>
          <a:xfrm>
            <a:off x="6573831" y="-2109472"/>
            <a:ext cx="4394884" cy="4567091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5"/>
          <p:cNvSpPr/>
          <p:nvPr/>
        </p:nvSpPr>
        <p:spPr>
          <a:xfrm>
            <a:off x="-1751437" y="2561631"/>
            <a:ext cx="4422678" cy="4733969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Text 2"/>
          <p:cNvSpPr/>
          <p:nvPr/>
        </p:nvSpPr>
        <p:spPr>
          <a:xfrm>
            <a:off x="320040" y="262890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지표별 상세 분석</a:t>
            </a:r>
            <a:endParaRPr lang="en-US" sz="26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4262387644"/>
              </p:ext>
            </p:extLst>
          </p:nvPr>
        </p:nvGraphicFramePr>
        <p:xfrm>
          <a:off x="320040" y="987552"/>
          <a:ext cx="47548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8" name="Shape 3"/>
          <p:cNvSpPr/>
          <p:nvPr/>
        </p:nvSpPr>
        <p:spPr>
          <a:xfrm>
            <a:off x="5212080" y="987552"/>
            <a:ext cx="36576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5212080" y="987552"/>
            <a:ext cx="54864" cy="87782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5"/>
          <p:cNvSpPr/>
          <p:nvPr/>
        </p:nvSpPr>
        <p:spPr>
          <a:xfrm>
            <a:off x="5321808" y="10241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0.884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6543018" y="107912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1A1A"/>
                </a:solidFill>
              </a:rPr>
              <a:t>Faithfulness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7917180" y="1565959"/>
            <a:ext cx="841248" cy="219456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920196" y="1569201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803D"/>
                </a:solidFill>
              </a:rPr>
              <a:t>★ 우수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5321808" y="1499616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</a:rPr>
              <a:t>Self-RAG Supportiveness 필터가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</a:rPr>
              <a:t>근거 없는 답변 제어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5212080" y="1938528"/>
            <a:ext cx="36576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212080" y="1938528"/>
            <a:ext cx="54864" cy="87782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2"/>
          <p:cNvSpPr/>
          <p:nvPr/>
        </p:nvSpPr>
        <p:spPr>
          <a:xfrm>
            <a:off x="5321808" y="197510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0.872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6533096" y="2025299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1A1A"/>
                </a:solidFill>
              </a:rPr>
              <a:t>Ans. Relevancy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917180" y="2519983"/>
            <a:ext cx="841248" cy="219456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920196" y="251002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803D"/>
                </a:solidFill>
              </a:rPr>
              <a:t>★ 우수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5321808" y="2450592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</a:rPr>
              <a:t>사건 유형 버튼 + 명확한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</a:rPr>
              <a:t>프롬프트 템플릿 효과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5212080" y="2889504"/>
            <a:ext cx="36576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212080" y="2889504"/>
            <a:ext cx="54864" cy="87782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</p:sp>
      <p:sp>
        <p:nvSpPr>
          <p:cNvPr id="24" name="Text 19"/>
          <p:cNvSpPr/>
          <p:nvPr/>
        </p:nvSpPr>
        <p:spPr>
          <a:xfrm>
            <a:off x="5321808" y="2926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0.774</a:t>
            </a:r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5" name="Text 20"/>
          <p:cNvSpPr/>
          <p:nvPr/>
        </p:nvSpPr>
        <p:spPr>
          <a:xfrm>
            <a:off x="7554176" y="2978404"/>
            <a:ext cx="108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1A1A"/>
                </a:solidFill>
              </a:rPr>
              <a:t>Ctx. Precision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918704" y="3472180"/>
            <a:ext cx="841248" cy="219456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917942" y="347218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2400E"/>
                </a:solidFill>
              </a:rPr>
              <a:t>△ 개선여지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5321808" y="3401568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</a:rPr>
              <a:t>Top-K=4 시 무관 청크 포함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</a:rPr>
              <a:t>→ chunk 300/K=3 조정 시 +0.05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5212080" y="3840480"/>
            <a:ext cx="36576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212080" y="3840480"/>
            <a:ext cx="54864" cy="877824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</p:sp>
      <p:sp>
        <p:nvSpPr>
          <p:cNvPr id="31" name="Text 26"/>
          <p:cNvSpPr/>
          <p:nvPr/>
        </p:nvSpPr>
        <p:spPr>
          <a:xfrm>
            <a:off x="5321808" y="387705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0.823</a:t>
            </a:r>
            <a:endParaRPr lang="en-US" sz="2400" dirty="0">
              <a:solidFill>
                <a:srgbClr val="059669"/>
              </a:solidFill>
            </a:endParaRPr>
          </a:p>
        </p:txBody>
      </p:sp>
      <p:sp>
        <p:nvSpPr>
          <p:cNvPr id="32" name="Text 27"/>
          <p:cNvSpPr/>
          <p:nvPr/>
        </p:nvSpPr>
        <p:spPr>
          <a:xfrm>
            <a:off x="7467092" y="3931920"/>
            <a:ext cx="11739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1A1A"/>
                </a:solidFill>
              </a:rPr>
              <a:t>Ctx. Recall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7917942" y="4422778"/>
            <a:ext cx="841248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7917180" y="442277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40AF"/>
                </a:solidFill>
              </a:rPr>
              <a:t>○ 양호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5321808" y="4352544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</a:rPr>
              <a:t>청크 오버랩(80) 적용으로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</a:rPr>
              <a:t>필요 정보 대부분 포함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5212080" y="4791456"/>
            <a:ext cx="3657600" cy="27432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5321808" y="480974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/>
              <a:t>개선 목표 → Ctx.Precision: 0.83+  /  Ctx.Recall: 0.88+  /  전체 평균 0.85+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7"/>
          <p:cNvSpPr/>
          <p:nvPr/>
        </p:nvSpPr>
        <p:spPr>
          <a:xfrm rot="20793437">
            <a:off x="6391626" y="-1961362"/>
            <a:ext cx="4578157" cy="4768082"/>
          </a:xfrm>
          <a:custGeom>
            <a:avLst/>
            <a:gdLst/>
            <a:ahLst/>
            <a:cxnLst/>
            <a:rect l="l" t="t" r="r" b="b"/>
            <a:pathLst>
              <a:path w="6709932" h="6885191">
                <a:moveTo>
                  <a:pt x="0" y="0"/>
                </a:moveTo>
                <a:lnTo>
                  <a:pt x="6709932" y="0"/>
                </a:lnTo>
                <a:lnTo>
                  <a:pt x="6709932" y="6885192"/>
                </a:lnTo>
                <a:lnTo>
                  <a:pt x="0" y="68851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 2"/>
          <p:cNvSpPr/>
          <p:nvPr/>
        </p:nvSpPr>
        <p:spPr>
          <a:xfrm>
            <a:off x="320040" y="22098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결론 및 향후 계획</a:t>
            </a:r>
            <a:endParaRPr lang="en-US" sz="2600" dirty="0"/>
          </a:p>
        </p:txBody>
      </p:sp>
      <p:sp>
        <p:nvSpPr>
          <p:cNvPr id="7" name="Shape 3"/>
          <p:cNvSpPr/>
          <p:nvPr/>
        </p:nvSpPr>
        <p:spPr>
          <a:xfrm>
            <a:off x="265176" y="951738"/>
            <a:ext cx="2029968" cy="173736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1115568"/>
            <a:ext cx="512064" cy="51206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65176" y="1719072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Self-RAG 구현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256032" y="2011680"/>
            <a:ext cx="2029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6단계 파이프라인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LangChain Pydantic 기반</a:t>
            </a:r>
          </a:p>
        </p:txBody>
      </p:sp>
      <p:sp>
        <p:nvSpPr>
          <p:cNvPr id="11" name="Shape 6"/>
          <p:cNvSpPr/>
          <p:nvPr/>
        </p:nvSpPr>
        <p:spPr>
          <a:xfrm>
            <a:off x="2478024" y="951992"/>
            <a:ext cx="2029968" cy="173736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6976" y="1115568"/>
            <a:ext cx="512064" cy="51206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468880" y="1719072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RAG vs LLM 비교 UI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2468880" y="2029968"/>
            <a:ext cx="2029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나란히 출력 비교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차이 즉시 시각화</a:t>
            </a:r>
          </a:p>
        </p:txBody>
      </p:sp>
      <p:sp>
        <p:nvSpPr>
          <p:cNvPr id="15" name="Shape 9"/>
          <p:cNvSpPr/>
          <p:nvPr/>
        </p:nvSpPr>
        <p:spPr>
          <a:xfrm>
            <a:off x="4639056" y="951992"/>
            <a:ext cx="2029968" cy="173736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8008" y="1115568"/>
            <a:ext cx="512064" cy="51206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639056" y="1719072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RAGAS 평가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4639056" y="2029968"/>
            <a:ext cx="2029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12개 샘플 · 4지표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전체 평균 0.8381</a:t>
            </a:r>
          </a:p>
        </p:txBody>
      </p:sp>
      <p:sp>
        <p:nvSpPr>
          <p:cNvPr id="19" name="Shape 12"/>
          <p:cNvSpPr/>
          <p:nvPr/>
        </p:nvSpPr>
        <p:spPr>
          <a:xfrm>
            <a:off x="6793992" y="958342"/>
            <a:ext cx="2029968" cy="173736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52944" y="1115568"/>
            <a:ext cx="512064" cy="51206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793992" y="1719072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성능 입증</a:t>
            </a:r>
            <a:endParaRPr lang="en-US" sz="1100" dirty="0"/>
          </a:p>
        </p:txBody>
      </p:sp>
      <p:sp>
        <p:nvSpPr>
          <p:cNvPr id="22" name="Text 14"/>
          <p:cNvSpPr/>
          <p:nvPr/>
        </p:nvSpPr>
        <p:spPr>
          <a:xfrm>
            <a:off x="6793992" y="2011680"/>
            <a:ext cx="2029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Faithfulness 0.8842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Self-RAG 효과 검증</a:t>
            </a:r>
          </a:p>
        </p:txBody>
      </p:sp>
      <p:sp>
        <p:nvSpPr>
          <p:cNvPr id="23" name="Text 15"/>
          <p:cNvSpPr/>
          <p:nvPr/>
        </p:nvSpPr>
        <p:spPr>
          <a:xfrm>
            <a:off x="411480" y="2907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향후 개선 계획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4" name="Shape 16"/>
          <p:cNvSpPr/>
          <p:nvPr/>
        </p:nvSpPr>
        <p:spPr>
          <a:xfrm>
            <a:off x="411480" y="3328416"/>
            <a:ext cx="274320" cy="27432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5" name="Text 17"/>
          <p:cNvSpPr/>
          <p:nvPr/>
        </p:nvSpPr>
        <p:spPr>
          <a:xfrm>
            <a:off x="411480" y="3328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01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777240" y="32735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파라미터 최적화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777240" y="352958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chunk_size 300 / Top-K 3 → Ctx.Precision +0.05 목표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411480" y="3877056"/>
            <a:ext cx="274320" cy="27432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9" name="Text 21"/>
          <p:cNvSpPr/>
          <p:nvPr/>
        </p:nvSpPr>
        <p:spPr>
          <a:xfrm>
            <a:off x="411480" y="3877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02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777240" y="38221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하이브리드 검색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777240" y="407822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벡터 + BM25 결합으로 Context Recall 0.88+ 달성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411480" y="4425696"/>
            <a:ext cx="274320" cy="27432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3" name="Text 25"/>
          <p:cNvSpPr/>
          <p:nvPr/>
        </p:nvSpPr>
        <p:spPr>
          <a:xfrm>
            <a:off x="411480" y="4425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03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777240" y="43708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실제 법령 PDF 확장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777240" y="462686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형법·민법·판례집으로 도메인별 벡터 DB 구축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-10580377">
            <a:off x="6586429" y="-1829840"/>
            <a:ext cx="4911939" cy="5416600"/>
          </a:xfrm>
          <a:custGeom>
            <a:avLst/>
            <a:gdLst/>
            <a:ahLst/>
            <a:cxnLst/>
            <a:rect l="l" t="t" r="r" b="b"/>
            <a:pathLst>
              <a:path w="24036383" h="24664199">
                <a:moveTo>
                  <a:pt x="0" y="0"/>
                </a:moveTo>
                <a:lnTo>
                  <a:pt x="24036383" y="0"/>
                </a:lnTo>
                <a:lnTo>
                  <a:pt x="24036383" y="24664199"/>
                </a:lnTo>
                <a:lnTo>
                  <a:pt x="0" y="246641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26998" y="1237346"/>
            <a:ext cx="4048844" cy="2500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508"/>
              </a:lnSpc>
              <a:spcBef>
                <a:spcPct val="0"/>
              </a:spcBef>
            </a:pPr>
            <a:r>
              <a:rPr lang="en-US" sz="4716" b="1" spc="462" dirty="0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THANK'S FOR WATCHING</a:t>
            </a:r>
          </a:p>
        </p:txBody>
      </p:sp>
      <p:sp>
        <p:nvSpPr>
          <p:cNvPr id="5" name="Freeform 5"/>
          <p:cNvSpPr/>
          <p:nvPr/>
        </p:nvSpPr>
        <p:spPr>
          <a:xfrm flipH="1">
            <a:off x="-2127077" y="3738031"/>
            <a:ext cx="5940797" cy="1782239"/>
          </a:xfrm>
          <a:custGeom>
            <a:avLst/>
            <a:gdLst/>
            <a:ahLst/>
            <a:cxnLst/>
            <a:rect l="l" t="t" r="r" b="b"/>
            <a:pathLst>
              <a:path w="11881594" h="3564478">
                <a:moveTo>
                  <a:pt x="11881594" y="0"/>
                </a:moveTo>
                <a:lnTo>
                  <a:pt x="0" y="0"/>
                </a:lnTo>
                <a:lnTo>
                  <a:pt x="0" y="3564478"/>
                </a:lnTo>
                <a:lnTo>
                  <a:pt x="11881594" y="3564478"/>
                </a:lnTo>
                <a:lnTo>
                  <a:pt x="1188159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455089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805</Words>
  <Application>Microsoft Office PowerPoint</Application>
  <PresentationFormat>화면 슬라이드 쇼(16:9)</PresentationFormat>
  <Paragraphs>271</Paragraphs>
  <Slides>12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Oswald Bold</vt:lpstr>
      <vt:lpstr>맑은 고딕</vt:lpstr>
      <vt:lpstr>Arial</vt:lpstr>
      <vt:lpstr>Arial Black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SELF-RAG 기반 법률 사건 Q&amp;A 챗봇 — 최종 발표</dc:title>
  <dc:subject>PptxGenJS Presentation</dc:subject>
  <dc:creator>강우현, 김준우, 김정효</dc:creator>
  <cp:lastModifiedBy>mskang</cp:lastModifiedBy>
  <cp:revision>42</cp:revision>
  <dcterms:created xsi:type="dcterms:W3CDTF">2026-06-07T08:15:31Z</dcterms:created>
  <dcterms:modified xsi:type="dcterms:W3CDTF">2026-06-09T10:09:47Z</dcterms:modified>
</cp:coreProperties>
</file>