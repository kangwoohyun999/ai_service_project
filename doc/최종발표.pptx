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점수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Faithfulness</c:v>
                  </c:pt>
                  <c:pt idx="1">
                    <c:v>Ans. Relevancy</c:v>
                  </c:pt>
                  <c:pt idx="2">
                    <c:v>Ctx. Precision</c:v>
                  </c:pt>
                  <c:pt idx="3">
                    <c:v>Ctx. 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0.8842</c:v>
                </c:pt>
                <c:pt idx="1">
                  <c:v>0.8717</c:v>
                </c:pt>
                <c:pt idx="2">
                  <c:v>0.7742</c:v>
                </c:pt>
                <c:pt idx="3">
                  <c:v>0.8225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-45720" y="-45720"/>
            <a:ext cx="1920240" cy="17373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6217920" y="2560320"/>
            <a:ext cx="3017520" cy="2743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011680" y="1005840"/>
            <a:ext cx="5120640" cy="2103120"/>
          </a:xfrm>
          <a:prstGeom prst="rect">
            <a:avLst/>
          </a:prstGeom>
          <a:solidFill>
            <a:srgbClr val="EBEBEB"/>
          </a:solidFill>
          <a:ln w="31750">
            <a:solidFill>
              <a:srgbClr val="1A1A1A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011680" y="111556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인공지능서비스개발 최종 발표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011680" y="1627632"/>
            <a:ext cx="5120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5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SELF-RAG 기반 법률 사건 Q&amp;A 챗봇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201168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LLM 비교 출력 · RAGAS 정량 평가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743200" y="3291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강우현 · 김준우 · 김정효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178040" y="-45720"/>
            <a:ext cx="2011680" cy="1600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45720" y="352044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286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5200" dirty="0"/>
          </a:p>
        </p:txBody>
      </p:sp>
      <p:sp>
        <p:nvSpPr>
          <p:cNvPr id="5" name="Shape 1"/>
          <p:cNvSpPr/>
          <p:nvPr/>
        </p:nvSpPr>
        <p:spPr>
          <a:xfrm>
            <a:off x="2286000" y="1170432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2286000" y="117043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3035808" y="122529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 &amp; 배경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286000" y="1792224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17922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035808" y="184708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설계 &amp; 기술 스택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2286000" y="2414016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286000" y="2414016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035808" y="24688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기능: Self-RAG 6단계 파이프라인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2286000" y="3035808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286000" y="3035808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035808" y="309067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기능: RAG vs LLM 비교 UI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2286000" y="3657600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286000" y="3657600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035808" y="3712464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성능 평가 결과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2286000" y="4279392"/>
            <a:ext cx="658368" cy="512064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286000" y="4279392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3035808" y="433425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 및 향후 계획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-45720" y="352044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5603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개요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9264"/>
            <a:ext cx="237744" cy="237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91440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시민은 법률 사건 발생 시 전문 지식이 부족해 당황하기 쉽다.</a:t>
            </a:r>
            <a:endParaRPr lang="en-US" sz="1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65376"/>
            <a:ext cx="237744" cy="23774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2960" y="1810512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LLM은 할루시네이션(Hallucination) 위험이 높고, 최신 법령 반영이 어렵다.</a:t>
            </a:r>
            <a:endParaRPr lang="en-US" sz="1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761488"/>
            <a:ext cx="237744" cy="23774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2960" y="2706624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기법 적용: 검색 필요성 판단 → 문서 검색 → 관련성 필터링 → 답변 생성으로 신뢰도 향상.</a:t>
            </a:r>
            <a:endParaRPr lang="en-US" sz="1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57600"/>
            <a:ext cx="237744" cy="23774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22960" y="3602736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목표: 일반인이 사건 직후에도 정확한 법률 정보를 빠르게 확인하고 적절한 초기 대처를 할 수 있도록 지원.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502920" y="4572000"/>
            <a:ext cx="8138160" cy="292608"/>
          </a:xfrm>
          <a:prstGeom prst="rect">
            <a:avLst/>
          </a:prstGeom>
          <a:solidFill>
            <a:srgbClr val="D8D8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640080" y="458114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법률 도메인 특화 Self-RAG + RAG vs LLM 비교 출력 + RAGAS 정량 평가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-45720" y="-45720"/>
            <a:ext cx="1920240" cy="17373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7178040" y="-45720"/>
            <a:ext cx="2011680" cy="1600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01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3800" dirty="0"/>
          </a:p>
        </p:txBody>
      </p:sp>
      <p:sp>
        <p:nvSpPr>
          <p:cNvPr id="5" name="Shape 1"/>
          <p:cNvSpPr/>
          <p:nvPr/>
        </p:nvSpPr>
        <p:spPr>
          <a:xfrm>
            <a:off x="411480" y="987552"/>
            <a:ext cx="18288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02920" y="987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2240280" y="987552"/>
            <a:ext cx="41148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331720" y="9875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55080" y="987552"/>
            <a:ext cx="2743200" cy="384048"/>
          </a:xfrm>
          <a:prstGeom prst="rect">
            <a:avLst/>
          </a:prstGeom>
          <a:solidFill>
            <a:srgbClr val="333333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9875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1371600"/>
            <a:ext cx="18288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37160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240280" y="1371600"/>
            <a:ext cx="41148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331720" y="13716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/ GPT-4o-mini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55080" y="1371600"/>
            <a:ext cx="27432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46520" y="13716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1480" y="1819656"/>
            <a:ext cx="18288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181965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2240280" y="1819656"/>
            <a:ext cx="41148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31720" y="181965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text-embedding-3-large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355080" y="1819656"/>
            <a:ext cx="27432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18196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11480" y="2267712"/>
            <a:ext cx="18288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2920" y="22677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DB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240280" y="2267712"/>
            <a:ext cx="41148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31720" y="22677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 (로컬 저장/로드)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6355080" y="2267712"/>
            <a:ext cx="27432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46520" y="226771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 · 경량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11480" y="2715768"/>
            <a:ext cx="18288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2920" y="271576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프레임워크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2240280" y="2715768"/>
            <a:ext cx="41148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331720" y="27157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6355080" y="2715768"/>
            <a:ext cx="27432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46520" y="271576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파이프라인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11480" y="3163824"/>
            <a:ext cx="18288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02920" y="31638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전략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2240280" y="3163824"/>
            <a:ext cx="41148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331720" y="316382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(6단계)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355080" y="3163824"/>
            <a:ext cx="27432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446520" y="316382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차별점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411480" y="3611880"/>
            <a:ext cx="18288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02920" y="36118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2240280" y="3611880"/>
            <a:ext cx="41148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2331720" y="36118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ConversationBufferWindowMemory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6355080" y="3611880"/>
            <a:ext cx="27432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446520" y="361188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5턴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411480" y="4059936"/>
            <a:ext cx="18288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02920" y="405993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050" dirty="0"/>
          </a:p>
        </p:txBody>
      </p:sp>
      <p:sp>
        <p:nvSpPr>
          <p:cNvPr id="49" name="Shape 45"/>
          <p:cNvSpPr/>
          <p:nvPr/>
        </p:nvSpPr>
        <p:spPr>
          <a:xfrm>
            <a:off x="2240280" y="4059936"/>
            <a:ext cx="41148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2331720" y="405993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6355080" y="4059936"/>
            <a:ext cx="2743200" cy="420624"/>
          </a:xfrm>
          <a:prstGeom prst="rect">
            <a:avLst/>
          </a:prstGeom>
          <a:solidFill>
            <a:srgbClr val="222222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446520" y="405993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LLM 비교 출력</a:t>
            </a:r>
            <a:endParaRPr lang="en-US" sz="1050" dirty="0"/>
          </a:p>
        </p:txBody>
      </p:sp>
      <p:sp>
        <p:nvSpPr>
          <p:cNvPr id="53" name="Shape 49"/>
          <p:cNvSpPr/>
          <p:nvPr/>
        </p:nvSpPr>
        <p:spPr>
          <a:xfrm>
            <a:off x="411480" y="4507992"/>
            <a:ext cx="18288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502920" y="450799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</a:t>
            </a:r>
            <a:endParaRPr lang="en-US" sz="1050" dirty="0"/>
          </a:p>
        </p:txBody>
      </p:sp>
      <p:sp>
        <p:nvSpPr>
          <p:cNvPr id="55" name="Shape 51"/>
          <p:cNvSpPr/>
          <p:nvPr/>
        </p:nvSpPr>
        <p:spPr>
          <a:xfrm>
            <a:off x="2240280" y="4507992"/>
            <a:ext cx="41148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2331720" y="450799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v0.2</a:t>
            </a:r>
            <a:endParaRPr lang="en-US" sz="1050" dirty="0"/>
          </a:p>
        </p:txBody>
      </p:sp>
      <p:sp>
        <p:nvSpPr>
          <p:cNvPr id="57" name="Shape 53"/>
          <p:cNvSpPr/>
          <p:nvPr/>
        </p:nvSpPr>
        <p:spPr>
          <a:xfrm>
            <a:off x="6355080" y="4507992"/>
            <a:ext cx="2743200" cy="420624"/>
          </a:xfrm>
          <a:prstGeom prst="rect">
            <a:avLst/>
          </a:prstGeom>
          <a:solidFill>
            <a:srgbClr val="2A2A2A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446520" y="450799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12개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-45720" y="-45720"/>
            <a:ext cx="192024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91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03  SELF-RAG PIPELINE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42062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Self-RAG 6단계 파이프라인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1148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</a:rPr>
              <a:t>LangChain Pydantic 구조화 출력 — 각 단계에서 LLM이 스스로 판단·평가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" y="1298448"/>
            <a:ext cx="2743200" cy="1600200"/>
          </a:xfrm>
          <a:prstGeom prst="rect">
            <a:avLst/>
          </a:prstGeom>
          <a:solidFill>
            <a:srgbClr val="1E3A6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9768" y="1408176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429768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Retrieve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9768" y="1810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법률 문서 검색 필요 여부 판단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29768" y="21214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Yes→검색 / No→직접 생성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64408" y="1298448"/>
            <a:ext cx="2743200" cy="1600200"/>
          </a:xfrm>
          <a:prstGeom prst="rect">
            <a:avLst/>
          </a:prstGeom>
          <a:solidFill>
            <a:srgbClr val="1E3A6E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74136" y="1408176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3374136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813048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FAISS 검색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74136" y="1810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유사 법률 문서 Top-K 검색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74136" y="21214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text-embedding-3-large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208776" y="1298448"/>
            <a:ext cx="2743200" cy="1600200"/>
          </a:xfrm>
          <a:prstGeom prst="rect">
            <a:avLst/>
          </a:prstGeom>
          <a:solidFill>
            <a:srgbClr val="1E3A6E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18504" y="1408176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6318504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757416" y="14264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ISREL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18504" y="181051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문서 관련성 필터링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318504" y="2121408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Relevant / Irrelevant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0040" y="3054096"/>
            <a:ext cx="2743200" cy="1600200"/>
          </a:xfrm>
          <a:prstGeom prst="rect">
            <a:avLst/>
          </a:prstGeom>
          <a:solidFill>
            <a:srgbClr val="1E3A6E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29768" y="3163824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4"/>
          <p:cNvSpPr/>
          <p:nvPr/>
        </p:nvSpPr>
        <p:spPr>
          <a:xfrm>
            <a:off x="429768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68680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답변 생성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29768" y="3566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관련 문서 기반 답변 작성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29768" y="387705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대화 이력(Memory) 포함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64408" y="3054096"/>
            <a:ext cx="2743200" cy="1600200"/>
          </a:xfrm>
          <a:prstGeom prst="rect">
            <a:avLst/>
          </a:prstGeom>
          <a:solidFill>
            <a:srgbClr val="1E3A6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374136" y="316382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0"/>
          <p:cNvSpPr/>
          <p:nvPr/>
        </p:nvSpPr>
        <p:spPr>
          <a:xfrm>
            <a:off x="3374136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3813048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ISSUP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374136" y="3566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지원도 평가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3374136" y="387705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Fully / Partially / No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208776" y="3054096"/>
            <a:ext cx="2743200" cy="1600200"/>
          </a:xfrm>
          <a:prstGeom prst="rect">
            <a:avLst/>
          </a:prstGeom>
          <a:solidFill>
            <a:srgbClr val="1E3A6E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18504" y="3163824"/>
            <a:ext cx="365760" cy="36576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9" name="Text 36"/>
          <p:cNvSpPr/>
          <p:nvPr/>
        </p:nvSpPr>
        <p:spPr>
          <a:xfrm>
            <a:off x="6318504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757416" y="3182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ISUSE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318504" y="3566160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유용성 점수 (1~5)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318504" y="3877056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최적 답변 선택 → 출력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178040" y="-45720"/>
            <a:ext cx="2011680" cy="1600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91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04  NEW FEATURE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4023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vs LLM 비교 출력 UI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1148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</a:rPr>
              <a:t>동일 질문에 대해 Self-RAG 답변과 순수 LLM 답변을 나란히 출력 — 차이를 즉시 확인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261872"/>
            <a:ext cx="41148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📖 Self-RAG 답변  |  법률 문서 기반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6459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700784"/>
            <a:ext cx="38404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✅ 법률 문서에서 직접 검색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민법 제750조에 따라 교통사고 피해자는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가해자 및 보험사에 치료비, 휴업손해,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위자료를 청구할 수 있습니다.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손해배상 소멸시효는 불법행위를 안 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로부터 3년입니다.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4041648"/>
            <a:ext cx="1463040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</a:rPr>
              <a:t>📖 Self-RAG (문서 기반)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407408" y="2487168"/>
            <a:ext cx="329184" cy="329184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4407408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261872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순수 LLM 답변  |  학습 지식만 사용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64592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1700784"/>
            <a:ext cx="384048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⚠️ 문서 검색 없이 학습 데이터만 활용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교통사고 피해자는 상대방 보험사와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합의하거나 민사소송을 통해 손해배상을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청구할 수 있습니다.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구체적인 법 조항이나 최신 판례는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확인이 필요합니다.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4041648"/>
            <a:ext cx="1463040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40507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</a:rPr>
              <a:t>🤖 순수 LLM (RAG 없음)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rgbClr val="F0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4074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</a:rPr>
              <a:t>💡 Self-RAG: 법 조항 명시·근거 문서 기반 → 할루시네이션 억제  |  LLM: 빠르지만 최신 법령 미반영·불확실성 높음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178040" y="-45720"/>
            <a:ext cx="2011680" cy="1600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91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1A1A"/>
                </a:solidFill>
              </a:rPr>
              <a:t>05  RAGAS EVALUATION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402336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RAGAS 평가 — 데이터셋 &amp; 방법론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201168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질문 + Ground Truth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0040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12개 준비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331720" y="1261872"/>
            <a:ext cx="201168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0" name="Shape 7"/>
          <p:cNvSpPr/>
          <p:nvPr/>
        </p:nvSpPr>
        <p:spPr>
          <a:xfrm>
            <a:off x="2532888" y="1005840"/>
            <a:ext cx="201168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32888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FAISS 벡터DB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32888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문서 검색 (K=4)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44568" y="1261872"/>
            <a:ext cx="201168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4" name="Shape 11"/>
          <p:cNvSpPr/>
          <p:nvPr/>
        </p:nvSpPr>
        <p:spPr>
          <a:xfrm>
            <a:off x="4745736" y="1005840"/>
            <a:ext cx="201168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45736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GPT-4o-mini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745736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답변 생성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757416" y="1261872"/>
            <a:ext cx="201168" cy="128016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8" name="Shape 15"/>
          <p:cNvSpPr/>
          <p:nvPr/>
        </p:nvSpPr>
        <p:spPr>
          <a:xfrm>
            <a:off x="6958584" y="1005840"/>
            <a:ext cx="201168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58584" y="104241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RAGAS evaluate()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958584" y="13716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4가지 지표 산출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1865376"/>
            <a:ext cx="2011680" cy="265176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0040" y="1865376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1069848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20040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Faithfulness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20040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충실도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11480" y="2980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답변이 검색 문서에 근거?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환각 방지 핵심 지표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11480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기준: 0.8↑ 우수 / 0.6↓ 개선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532888" y="1865376"/>
            <a:ext cx="2011680" cy="26517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532888" y="1865376"/>
            <a:ext cx="20116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7"/>
          <p:cNvSpPr/>
          <p:nvPr/>
        </p:nvSpPr>
        <p:spPr>
          <a:xfrm>
            <a:off x="3282696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2532888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Answer Relevancy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532888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답변 관련성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624328" y="2980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답변이 질문에 얼마나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직접 대응하는가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624328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기준: 0.8↑ 우수 / 0.6↓ 개선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745736" y="1865376"/>
            <a:ext cx="2011680" cy="2651760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45736" y="1865376"/>
            <a:ext cx="20116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5495544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4745736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Context Precision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745736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문맥 정밀도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837176" y="2980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검색 청크 중 관련 있는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것이 상위에 있는가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837176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기준: 0.8↑ 우수 / 0.6↓ 개선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958584" y="1865376"/>
            <a:ext cx="2011680" cy="2651760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958584" y="1865376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1"/>
          <p:cNvSpPr/>
          <p:nvPr/>
        </p:nvSpPr>
        <p:spPr>
          <a:xfrm>
            <a:off x="7708392" y="199339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6958584" y="2468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Context Recall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958584" y="2706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문맥 재현율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050024" y="2980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정답에 필요한 정보가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검색 문맥에 포함됐는가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050024" y="4197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기준: 0.8↑ 우수 / 0.6↓ 개선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178040" y="-45720"/>
            <a:ext cx="2011680" cy="1600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1"/>
          <p:cNvSpPr/>
          <p:nvPr/>
        </p:nvSpPr>
        <p:spPr>
          <a:xfrm>
            <a:off x="411480" y="91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1A1A"/>
                </a:solidFill>
              </a:rPr>
              <a:t>05  RAGAS RESULTS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1480" y="4023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12개 질문별 전체 RAGAS 점수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11480" y="886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chunk_size=400 / overlap=80 / Top-K=4 / GPT-4o-mini / text-embedding-3-large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1170432"/>
            <a:ext cx="36576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4904" y="117043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1170432"/>
            <a:ext cx="274320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" y="117043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1170432"/>
            <a:ext cx="128016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83864" y="117043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170432"/>
            <a:ext cx="128016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64024" y="117043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Ans.Rel.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1170432"/>
            <a:ext cx="128016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44184" y="117043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Ctx.Pre.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69480" y="1170432"/>
            <a:ext cx="1280160" cy="32918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24344" y="117043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Ctx.Rec.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" y="1499616"/>
            <a:ext cx="36576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6616" y="1499616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85800" y="1499616"/>
            <a:ext cx="274320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2376" y="1499616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교통사고 손해배상 청구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29000" y="1499616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65576" y="149961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09160" y="1499616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45736" y="149961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989320" y="1499616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25896" y="149961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269480" y="1499616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06056" y="149961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0040" y="1783080"/>
            <a:ext cx="3657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6616" y="178308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85800" y="1783080"/>
            <a:ext cx="2743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2376" y="1783080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전세 보증금 반환 거부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429000" y="1783080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65576" y="178308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1783080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45736" y="178308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989320" y="1783080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25896" y="178308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269480" y="1783080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306056" y="178308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320040" y="2066544"/>
            <a:ext cx="36576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56616" y="206654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85800" y="2066544"/>
            <a:ext cx="274320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22376" y="2066544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부당해고 구제 방법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429000" y="2066544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465576" y="2066544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4709160" y="2066544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45736" y="2066544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5989320" y="2066544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025896" y="2066544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269480" y="2066544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06056" y="2066544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320040" y="2350008"/>
            <a:ext cx="3657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56616" y="235000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85800" y="2350008"/>
            <a:ext cx="2743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22376" y="2350008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온라인 사기 고소 절차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3429000" y="2350008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3465576" y="235000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4709160" y="2350008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745736" y="235000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5989320" y="2350008"/>
            <a:ext cx="1280160" cy="265176"/>
          </a:xfrm>
          <a:prstGeom prst="rect">
            <a:avLst/>
          </a:prstGeom>
          <a:solidFill>
            <a:srgbClr val="FFC7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025896" y="235000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7269480" y="2350008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306056" y="235000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0.79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20040" y="2633472"/>
            <a:ext cx="36576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56616" y="2633472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685800" y="2633472"/>
            <a:ext cx="274320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22376" y="2633472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폭행 피해 고소 방법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3429000" y="2633472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465576" y="2633472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4709160" y="2633472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745736" y="2633472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989320" y="2633472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025896" y="2633472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7269480" y="2633472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306056" y="2633472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320040" y="2916936"/>
            <a:ext cx="3657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56616" y="2916936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>
            <a:off x="685800" y="2916936"/>
            <a:ext cx="2743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722376" y="2916936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불이행 대응</a:t>
            </a:r>
            <a:endParaRPr lang="en-US" sz="900" dirty="0"/>
          </a:p>
        </p:txBody>
      </p:sp>
      <p:sp>
        <p:nvSpPr>
          <p:cNvPr id="83" name="Shape 80"/>
          <p:cNvSpPr/>
          <p:nvPr/>
        </p:nvSpPr>
        <p:spPr>
          <a:xfrm>
            <a:off x="3429000" y="2916936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3465576" y="291693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</a:t>
            </a:r>
            <a:endParaRPr lang="en-US" sz="900" dirty="0"/>
          </a:p>
        </p:txBody>
      </p:sp>
      <p:sp>
        <p:nvSpPr>
          <p:cNvPr id="85" name="Shape 82"/>
          <p:cNvSpPr/>
          <p:nvPr/>
        </p:nvSpPr>
        <p:spPr>
          <a:xfrm>
            <a:off x="4709160" y="2916936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4745736" y="291693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5989320" y="2916936"/>
            <a:ext cx="1280160" cy="265176"/>
          </a:xfrm>
          <a:prstGeom prst="rect">
            <a:avLst/>
          </a:prstGeom>
          <a:solidFill>
            <a:srgbClr val="FFC7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025896" y="291693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7269480" y="2916936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7306056" y="291693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320040" y="3200400"/>
            <a:ext cx="36576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356616" y="320040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685800" y="3200400"/>
            <a:ext cx="274320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722376" y="3200400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명예훼손 고소 대응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3429000" y="3200400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465576" y="320040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4709160" y="3200400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4745736" y="320040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900" dirty="0"/>
          </a:p>
        </p:txBody>
      </p:sp>
      <p:sp>
        <p:nvSpPr>
          <p:cNvPr id="99" name="Shape 96"/>
          <p:cNvSpPr/>
          <p:nvPr/>
        </p:nvSpPr>
        <p:spPr>
          <a:xfrm>
            <a:off x="5989320" y="3200400"/>
            <a:ext cx="1280160" cy="265176"/>
          </a:xfrm>
          <a:prstGeom prst="rect">
            <a:avLst/>
          </a:prstGeom>
          <a:solidFill>
            <a:srgbClr val="FFC7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6025896" y="320040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0.70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7269480" y="3200400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7306056" y="320040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320040" y="3483864"/>
            <a:ext cx="3657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56616" y="3483864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685800" y="3483864"/>
            <a:ext cx="2743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722376" y="3483864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이혼 재산 분할</a:t>
            </a:r>
            <a:endParaRPr lang="en-US" sz="900" dirty="0"/>
          </a:p>
        </p:txBody>
      </p:sp>
      <p:sp>
        <p:nvSpPr>
          <p:cNvPr id="107" name="Shape 104"/>
          <p:cNvSpPr/>
          <p:nvPr/>
        </p:nvSpPr>
        <p:spPr>
          <a:xfrm>
            <a:off x="3429000" y="3483864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3465576" y="3483864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900" dirty="0"/>
          </a:p>
        </p:txBody>
      </p:sp>
      <p:sp>
        <p:nvSpPr>
          <p:cNvPr id="109" name="Shape 106"/>
          <p:cNvSpPr/>
          <p:nvPr/>
        </p:nvSpPr>
        <p:spPr>
          <a:xfrm>
            <a:off x="4709160" y="3483864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4745736" y="3483864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900" dirty="0"/>
          </a:p>
        </p:txBody>
      </p:sp>
      <p:sp>
        <p:nvSpPr>
          <p:cNvPr id="111" name="Shape 108"/>
          <p:cNvSpPr/>
          <p:nvPr/>
        </p:nvSpPr>
        <p:spPr>
          <a:xfrm>
            <a:off x="5989320" y="3483864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6025896" y="3483864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900" dirty="0"/>
          </a:p>
        </p:txBody>
      </p:sp>
      <p:sp>
        <p:nvSpPr>
          <p:cNvPr id="113" name="Shape 110"/>
          <p:cNvSpPr/>
          <p:nvPr/>
        </p:nvSpPr>
        <p:spPr>
          <a:xfrm>
            <a:off x="7269480" y="3483864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306056" y="3483864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</a:t>
            </a:r>
            <a:endParaRPr lang="en-US" sz="900" dirty="0"/>
          </a:p>
        </p:txBody>
      </p:sp>
      <p:sp>
        <p:nvSpPr>
          <p:cNvPr id="115" name="Shape 112"/>
          <p:cNvSpPr/>
          <p:nvPr/>
        </p:nvSpPr>
        <p:spPr>
          <a:xfrm>
            <a:off x="320040" y="3767328"/>
            <a:ext cx="36576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356616" y="3767328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117" name="Shape 114"/>
          <p:cNvSpPr/>
          <p:nvPr/>
        </p:nvSpPr>
        <p:spPr>
          <a:xfrm>
            <a:off x="685800" y="3767328"/>
            <a:ext cx="274320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8" name="Text 115"/>
          <p:cNvSpPr/>
          <p:nvPr/>
        </p:nvSpPr>
        <p:spPr>
          <a:xfrm>
            <a:off x="722376" y="3767328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임금 체불 법적 조치</a:t>
            </a:r>
            <a:endParaRPr lang="en-US" sz="900" dirty="0"/>
          </a:p>
        </p:txBody>
      </p:sp>
      <p:sp>
        <p:nvSpPr>
          <p:cNvPr id="119" name="Shape 116"/>
          <p:cNvSpPr/>
          <p:nvPr/>
        </p:nvSpPr>
        <p:spPr>
          <a:xfrm>
            <a:off x="3429000" y="3767328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0" name="Text 117"/>
          <p:cNvSpPr/>
          <p:nvPr/>
        </p:nvSpPr>
        <p:spPr>
          <a:xfrm>
            <a:off x="3465576" y="376732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900" dirty="0"/>
          </a:p>
        </p:txBody>
      </p:sp>
      <p:sp>
        <p:nvSpPr>
          <p:cNvPr id="121" name="Shape 118"/>
          <p:cNvSpPr/>
          <p:nvPr/>
        </p:nvSpPr>
        <p:spPr>
          <a:xfrm>
            <a:off x="4709160" y="3767328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2" name="Text 119"/>
          <p:cNvSpPr/>
          <p:nvPr/>
        </p:nvSpPr>
        <p:spPr>
          <a:xfrm>
            <a:off x="4745736" y="376732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900" dirty="0"/>
          </a:p>
        </p:txBody>
      </p:sp>
      <p:sp>
        <p:nvSpPr>
          <p:cNvPr id="123" name="Shape 120"/>
          <p:cNvSpPr/>
          <p:nvPr/>
        </p:nvSpPr>
        <p:spPr>
          <a:xfrm>
            <a:off x="5989320" y="3767328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6025896" y="376732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900" dirty="0"/>
          </a:p>
        </p:txBody>
      </p:sp>
      <p:sp>
        <p:nvSpPr>
          <p:cNvPr id="125" name="Shape 122"/>
          <p:cNvSpPr/>
          <p:nvPr/>
        </p:nvSpPr>
        <p:spPr>
          <a:xfrm>
            <a:off x="7269480" y="3767328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7306056" y="376732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900" dirty="0"/>
          </a:p>
        </p:txBody>
      </p:sp>
      <p:sp>
        <p:nvSpPr>
          <p:cNvPr id="127" name="Shape 124"/>
          <p:cNvSpPr/>
          <p:nvPr/>
        </p:nvSpPr>
        <p:spPr>
          <a:xfrm>
            <a:off x="320040" y="4050792"/>
            <a:ext cx="3657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356616" y="4050792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29" name="Shape 126"/>
          <p:cNvSpPr/>
          <p:nvPr/>
        </p:nvSpPr>
        <p:spPr>
          <a:xfrm>
            <a:off x="685800" y="4050792"/>
            <a:ext cx="2743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722376" y="4050792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유출 대응</a:t>
            </a:r>
            <a:endParaRPr lang="en-US" sz="900" dirty="0"/>
          </a:p>
        </p:txBody>
      </p:sp>
      <p:sp>
        <p:nvSpPr>
          <p:cNvPr id="131" name="Shape 128"/>
          <p:cNvSpPr/>
          <p:nvPr/>
        </p:nvSpPr>
        <p:spPr>
          <a:xfrm>
            <a:off x="3429000" y="4050792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2" name="Text 129"/>
          <p:cNvSpPr/>
          <p:nvPr/>
        </p:nvSpPr>
        <p:spPr>
          <a:xfrm>
            <a:off x="3465576" y="4050792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900" dirty="0"/>
          </a:p>
        </p:txBody>
      </p:sp>
      <p:sp>
        <p:nvSpPr>
          <p:cNvPr id="133" name="Shape 130"/>
          <p:cNvSpPr/>
          <p:nvPr/>
        </p:nvSpPr>
        <p:spPr>
          <a:xfrm>
            <a:off x="4709160" y="4050792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4745736" y="4050792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</a:t>
            </a:r>
            <a:endParaRPr lang="en-US" sz="900" dirty="0"/>
          </a:p>
        </p:txBody>
      </p:sp>
      <p:sp>
        <p:nvSpPr>
          <p:cNvPr id="135" name="Shape 132"/>
          <p:cNvSpPr/>
          <p:nvPr/>
        </p:nvSpPr>
        <p:spPr>
          <a:xfrm>
            <a:off x="5989320" y="4050792"/>
            <a:ext cx="1280160" cy="265176"/>
          </a:xfrm>
          <a:prstGeom prst="rect">
            <a:avLst/>
          </a:prstGeom>
          <a:solidFill>
            <a:srgbClr val="FFC7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6025896" y="4050792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0.73</a:t>
            </a:r>
            <a:endParaRPr lang="en-US" sz="900" dirty="0"/>
          </a:p>
        </p:txBody>
      </p:sp>
      <p:sp>
        <p:nvSpPr>
          <p:cNvPr id="137" name="Shape 134"/>
          <p:cNvSpPr/>
          <p:nvPr/>
        </p:nvSpPr>
        <p:spPr>
          <a:xfrm>
            <a:off x="7269480" y="4050792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7306056" y="4050792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900" dirty="0"/>
          </a:p>
        </p:txBody>
      </p:sp>
      <p:sp>
        <p:nvSpPr>
          <p:cNvPr id="139" name="Shape 136"/>
          <p:cNvSpPr/>
          <p:nvPr/>
        </p:nvSpPr>
        <p:spPr>
          <a:xfrm>
            <a:off x="320040" y="4334256"/>
            <a:ext cx="36576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0" name="Text 137"/>
          <p:cNvSpPr/>
          <p:nvPr/>
        </p:nvSpPr>
        <p:spPr>
          <a:xfrm>
            <a:off x="356616" y="4334256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41" name="Shape 138"/>
          <p:cNvSpPr/>
          <p:nvPr/>
        </p:nvSpPr>
        <p:spPr>
          <a:xfrm>
            <a:off x="685800" y="4334256"/>
            <a:ext cx="274320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2" name="Text 139"/>
          <p:cNvSpPr/>
          <p:nvPr/>
        </p:nvSpPr>
        <p:spPr>
          <a:xfrm>
            <a:off x="722376" y="4334256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스토킹 법적 보호</a:t>
            </a:r>
            <a:endParaRPr lang="en-US" sz="900" dirty="0"/>
          </a:p>
        </p:txBody>
      </p:sp>
      <p:sp>
        <p:nvSpPr>
          <p:cNvPr id="143" name="Shape 140"/>
          <p:cNvSpPr/>
          <p:nvPr/>
        </p:nvSpPr>
        <p:spPr>
          <a:xfrm>
            <a:off x="3429000" y="4334256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465576" y="433425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900" dirty="0"/>
          </a:p>
        </p:txBody>
      </p:sp>
      <p:sp>
        <p:nvSpPr>
          <p:cNvPr id="145" name="Shape 142"/>
          <p:cNvSpPr/>
          <p:nvPr/>
        </p:nvSpPr>
        <p:spPr>
          <a:xfrm>
            <a:off x="4709160" y="4334256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6" name="Text 143"/>
          <p:cNvSpPr/>
          <p:nvPr/>
        </p:nvSpPr>
        <p:spPr>
          <a:xfrm>
            <a:off x="4745736" y="433425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900" dirty="0"/>
          </a:p>
        </p:txBody>
      </p:sp>
      <p:sp>
        <p:nvSpPr>
          <p:cNvPr id="147" name="Shape 144"/>
          <p:cNvSpPr/>
          <p:nvPr/>
        </p:nvSpPr>
        <p:spPr>
          <a:xfrm>
            <a:off x="5989320" y="4334256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48" name="Text 145"/>
          <p:cNvSpPr/>
          <p:nvPr/>
        </p:nvSpPr>
        <p:spPr>
          <a:xfrm>
            <a:off x="6025896" y="433425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900" dirty="0"/>
          </a:p>
        </p:txBody>
      </p:sp>
      <p:sp>
        <p:nvSpPr>
          <p:cNvPr id="149" name="Shape 146"/>
          <p:cNvSpPr/>
          <p:nvPr/>
        </p:nvSpPr>
        <p:spPr>
          <a:xfrm>
            <a:off x="7269480" y="4334256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7306056" y="433425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</a:t>
            </a:r>
            <a:endParaRPr lang="en-US" sz="900" dirty="0"/>
          </a:p>
        </p:txBody>
      </p:sp>
      <p:sp>
        <p:nvSpPr>
          <p:cNvPr id="151" name="Shape 148"/>
          <p:cNvSpPr/>
          <p:nvPr/>
        </p:nvSpPr>
        <p:spPr>
          <a:xfrm>
            <a:off x="320040" y="4617720"/>
            <a:ext cx="36576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2" name="Text 149"/>
          <p:cNvSpPr/>
          <p:nvPr/>
        </p:nvSpPr>
        <p:spPr>
          <a:xfrm>
            <a:off x="356616" y="4617720"/>
            <a:ext cx="329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53" name="Shape 150"/>
          <p:cNvSpPr/>
          <p:nvPr/>
        </p:nvSpPr>
        <p:spPr>
          <a:xfrm>
            <a:off x="685800" y="4617720"/>
            <a:ext cx="27432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722376" y="4617720"/>
            <a:ext cx="2706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소비자 피해 환불</a:t>
            </a:r>
            <a:endParaRPr lang="en-US" sz="900" dirty="0"/>
          </a:p>
        </p:txBody>
      </p:sp>
      <p:sp>
        <p:nvSpPr>
          <p:cNvPr id="155" name="Shape 152"/>
          <p:cNvSpPr/>
          <p:nvPr/>
        </p:nvSpPr>
        <p:spPr>
          <a:xfrm>
            <a:off x="3429000" y="4617720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3465576" y="461772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</a:t>
            </a:r>
            <a:endParaRPr lang="en-US" sz="900" dirty="0"/>
          </a:p>
        </p:txBody>
      </p:sp>
      <p:sp>
        <p:nvSpPr>
          <p:cNvPr id="157" name="Shape 154"/>
          <p:cNvSpPr/>
          <p:nvPr/>
        </p:nvSpPr>
        <p:spPr>
          <a:xfrm>
            <a:off x="4709160" y="4617720"/>
            <a:ext cx="1280160" cy="265176"/>
          </a:xfrm>
          <a:prstGeom prst="rect">
            <a:avLst/>
          </a:prstGeom>
          <a:solidFill>
            <a:srgbClr val="C6EFC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4745736" y="461772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0.90</a:t>
            </a:r>
            <a:endParaRPr lang="en-US" sz="900" dirty="0"/>
          </a:p>
        </p:txBody>
      </p:sp>
      <p:sp>
        <p:nvSpPr>
          <p:cNvPr id="159" name="Shape 156"/>
          <p:cNvSpPr/>
          <p:nvPr/>
        </p:nvSpPr>
        <p:spPr>
          <a:xfrm>
            <a:off x="5989320" y="4617720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6025896" y="461772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</a:t>
            </a:r>
            <a:endParaRPr lang="en-US" sz="900" dirty="0"/>
          </a:p>
        </p:txBody>
      </p:sp>
      <p:sp>
        <p:nvSpPr>
          <p:cNvPr id="161" name="Shape 158"/>
          <p:cNvSpPr/>
          <p:nvPr/>
        </p:nvSpPr>
        <p:spPr>
          <a:xfrm>
            <a:off x="7269480" y="4617720"/>
            <a:ext cx="1280160" cy="265176"/>
          </a:xfrm>
          <a:prstGeom prst="rect">
            <a:avLst/>
          </a:prstGeom>
          <a:solidFill>
            <a:srgbClr val="FFEB9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7306056" y="461772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900" dirty="0"/>
          </a:p>
        </p:txBody>
      </p:sp>
      <p:sp>
        <p:nvSpPr>
          <p:cNvPr id="163" name="Shape 160"/>
          <p:cNvSpPr/>
          <p:nvPr/>
        </p:nvSpPr>
        <p:spPr>
          <a:xfrm>
            <a:off x="320040" y="4901184"/>
            <a:ext cx="365760" cy="28346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56616" y="4901184"/>
            <a:ext cx="3291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950" dirty="0"/>
          </a:p>
        </p:txBody>
      </p:sp>
      <p:sp>
        <p:nvSpPr>
          <p:cNvPr id="165" name="Shape 162"/>
          <p:cNvSpPr/>
          <p:nvPr/>
        </p:nvSpPr>
        <p:spPr>
          <a:xfrm>
            <a:off x="685800" y="4901184"/>
            <a:ext cx="2743200" cy="283464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722376" y="4901184"/>
            <a:ext cx="27066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평균</a:t>
            </a:r>
            <a:endParaRPr lang="en-US" sz="950" dirty="0"/>
          </a:p>
        </p:txBody>
      </p:sp>
      <p:sp>
        <p:nvSpPr>
          <p:cNvPr id="167" name="Shape 164"/>
          <p:cNvSpPr/>
          <p:nvPr/>
        </p:nvSpPr>
        <p:spPr>
          <a:xfrm>
            <a:off x="3429000" y="4901184"/>
            <a:ext cx="1280160" cy="28346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3465576" y="4901184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0.8842</a:t>
            </a:r>
            <a:endParaRPr lang="en-US" sz="950" dirty="0"/>
          </a:p>
        </p:txBody>
      </p:sp>
      <p:sp>
        <p:nvSpPr>
          <p:cNvPr id="169" name="Shape 166"/>
          <p:cNvSpPr/>
          <p:nvPr/>
        </p:nvSpPr>
        <p:spPr>
          <a:xfrm>
            <a:off x="4709160" y="4901184"/>
            <a:ext cx="1280160" cy="283464"/>
          </a:xfrm>
          <a:prstGeom prst="rect">
            <a:avLst/>
          </a:prstGeom>
          <a:solidFill>
            <a:srgbClr val="C6EFC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0" name="Text 167"/>
          <p:cNvSpPr/>
          <p:nvPr/>
        </p:nvSpPr>
        <p:spPr>
          <a:xfrm>
            <a:off x="4745736" y="4901184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0.8717</a:t>
            </a:r>
            <a:endParaRPr lang="en-US" sz="950" dirty="0"/>
          </a:p>
        </p:txBody>
      </p:sp>
      <p:sp>
        <p:nvSpPr>
          <p:cNvPr id="171" name="Shape 168"/>
          <p:cNvSpPr/>
          <p:nvPr/>
        </p:nvSpPr>
        <p:spPr>
          <a:xfrm>
            <a:off x="5989320" y="4901184"/>
            <a:ext cx="1280160" cy="283464"/>
          </a:xfrm>
          <a:prstGeom prst="rect">
            <a:avLst/>
          </a:prstGeom>
          <a:solidFill>
            <a:srgbClr val="FFEB9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2" name="Text 169"/>
          <p:cNvSpPr/>
          <p:nvPr/>
        </p:nvSpPr>
        <p:spPr>
          <a:xfrm>
            <a:off x="6025896" y="4901184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0.7742</a:t>
            </a:r>
            <a:endParaRPr lang="en-US" sz="950" dirty="0"/>
          </a:p>
        </p:txBody>
      </p:sp>
      <p:sp>
        <p:nvSpPr>
          <p:cNvPr id="173" name="Shape 170"/>
          <p:cNvSpPr/>
          <p:nvPr/>
        </p:nvSpPr>
        <p:spPr>
          <a:xfrm>
            <a:off x="7269480" y="4901184"/>
            <a:ext cx="1280160" cy="283464"/>
          </a:xfrm>
          <a:prstGeom prst="rect">
            <a:avLst/>
          </a:prstGeom>
          <a:solidFill>
            <a:srgbClr val="FFEB9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4" name="Text 171"/>
          <p:cNvSpPr/>
          <p:nvPr/>
        </p:nvSpPr>
        <p:spPr>
          <a:xfrm>
            <a:off x="7306056" y="4901184"/>
            <a:ext cx="1243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0.8225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178040" y="-45720"/>
            <a:ext cx="2011680" cy="1600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-45720" y="3520440"/>
            <a:ext cx="1828800" cy="1828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1"/>
          <p:cNvSpPr/>
          <p:nvPr/>
        </p:nvSpPr>
        <p:spPr>
          <a:xfrm>
            <a:off x="411480" y="914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1A1A"/>
                </a:solidFill>
              </a:rPr>
              <a:t>05  RAGAS ANALYSIS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11480" y="402336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지표별 상세 분석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987552"/>
          <a:ext cx="4754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5212080" y="987552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5212080" y="987552"/>
            <a:ext cx="54864" cy="877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5"/>
          <p:cNvSpPr/>
          <p:nvPr/>
        </p:nvSpPr>
        <p:spPr>
          <a:xfrm>
            <a:off x="5321808" y="1024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0.884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6382512" y="10424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Faithfulness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382512" y="1316736"/>
            <a:ext cx="841248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382512" y="13167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★ 우수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5321808" y="1499616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Self-RAG Supportiveness 필터가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근거 없는 답변 제어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212080" y="1938528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212080" y="1938528"/>
            <a:ext cx="54864" cy="8778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2"/>
          <p:cNvSpPr/>
          <p:nvPr/>
        </p:nvSpPr>
        <p:spPr>
          <a:xfrm>
            <a:off x="5321808" y="1975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0.872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382512" y="19933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Ans. Relevancy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82512" y="2267712"/>
            <a:ext cx="841248" cy="219456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382512" y="226771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★ 우수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321808" y="2450592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사건 유형 버튼 + 명확한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프롬프트 템플릿 효과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212080" y="2889504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12080" y="2889504"/>
            <a:ext cx="54864" cy="87782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5321808" y="2926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0.774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6382512" y="294436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Ctx. Precision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382512" y="3218688"/>
            <a:ext cx="841248" cy="21945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82512" y="321868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△ 개선여지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5321808" y="3401568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Top-K=4 시 무관 청크 포함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→ chunk 300/K=3 조정 시 +0.05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212080" y="3840480"/>
            <a:ext cx="365760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212080" y="3840480"/>
            <a:ext cx="54864" cy="8778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6"/>
          <p:cNvSpPr/>
          <p:nvPr/>
        </p:nvSpPr>
        <p:spPr>
          <a:xfrm>
            <a:off x="5321808" y="38770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0.823</a:t>
            </a:r>
            <a:endParaRPr lang="en-US" sz="2400" dirty="0"/>
          </a:p>
        </p:txBody>
      </p:sp>
      <p:sp>
        <p:nvSpPr>
          <p:cNvPr id="32" name="Text 27"/>
          <p:cNvSpPr/>
          <p:nvPr/>
        </p:nvSpPr>
        <p:spPr>
          <a:xfrm>
            <a:off x="6382512" y="38953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Ctx. Recall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382512" y="4169664"/>
            <a:ext cx="841248" cy="21945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382512" y="416966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40AF"/>
                </a:solidFill>
              </a:rPr>
              <a:t>○ 양호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5321808" y="4352544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청크 오버랩(80) 적용으로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필요 정보 대부분 포함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5212080" y="4791456"/>
            <a:ext cx="3657600" cy="274320"/>
          </a:xfrm>
          <a:prstGeom prst="rect">
            <a:avLst/>
          </a:prstGeom>
          <a:solidFill>
            <a:srgbClr val="F0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321808" y="480974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63EB"/>
                </a:solidFill>
              </a:rPr>
              <a:t>개선 목표 → Ctx.Precision: 0.83+  /  Ctx.Recall: 0.88+  /  전체 평균 0.85+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-45720" y="-45720"/>
            <a:ext cx="1920240" cy="17373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6217920" y="2560320"/>
            <a:ext cx="3017520" cy="2743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1"/>
          <p:cNvSpPr/>
          <p:nvPr/>
        </p:nvSpPr>
        <p:spPr>
          <a:xfrm>
            <a:off x="411480" y="914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06  CONCLUSION &amp; FUTURE WORK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11480" y="420624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및 향후 계획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320040" y="1042416"/>
            <a:ext cx="2029968" cy="1737360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115568"/>
            <a:ext cx="512064" cy="512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0040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Self-RAG 구현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20040" y="202996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6단계 파이프라인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LangChain Pydantic 기반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2532888" y="1042416"/>
            <a:ext cx="2029968" cy="1737360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115568"/>
            <a:ext cx="512064" cy="51206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32888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vs LLM 비교 UI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2532888" y="202996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나란히 출력 비교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차이 즉시 시각화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4745736" y="1042416"/>
            <a:ext cx="2029968" cy="1737360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1115568"/>
            <a:ext cx="512064" cy="51206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45736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RAGAS 평가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745736" y="202996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12개 샘플 · 4지표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전체 평균 0.8381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958584" y="1042416"/>
            <a:ext cx="2029968" cy="1737360"/>
          </a:xfrm>
          <a:prstGeom prst="rect">
            <a:avLst/>
          </a:prstGeom>
          <a:solidFill>
            <a:srgbClr val="1E3A6E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36" y="1115568"/>
            <a:ext cx="512064" cy="5120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58584" y="1719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성능 입증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6958584" y="202996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Faithfulness 0.8842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</a:rPr>
              <a:t>Self-RAG 효과 검증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4114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향후 개선 계획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11480" y="332841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17"/>
          <p:cNvSpPr/>
          <p:nvPr/>
        </p:nvSpPr>
        <p:spPr>
          <a:xfrm>
            <a:off x="41148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01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77724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파라미터 최적화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77240" y="352958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chunk_size 300 / Top-K 3 → Ctx.Precision +0.05 목표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11480" y="387705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1"/>
          <p:cNvSpPr/>
          <p:nvPr/>
        </p:nvSpPr>
        <p:spPr>
          <a:xfrm>
            <a:off x="411480" y="3877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02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77240" y="3822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하이브리드 검색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777240" y="40782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벡터 + BM25 결합으로 Context Recall 0.88+ 달성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411480" y="4425696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25"/>
          <p:cNvSpPr/>
          <p:nvPr/>
        </p:nvSpPr>
        <p:spPr>
          <a:xfrm>
            <a:off x="41148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03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77240" y="4370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실제 법령 PDF 확장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77240" y="462686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형법·민법·판례집으로 도메인별 벡터 DB 구축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5669280" y="2907792"/>
            <a:ext cx="3108960" cy="1938528"/>
          </a:xfrm>
          <a:prstGeom prst="rect">
            <a:avLst/>
          </a:prstGeom>
          <a:solidFill>
            <a:srgbClr val="1E3A6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5669280" y="30175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 &amp; A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5669280" y="35295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감사합니다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5669280" y="389534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강우현 · 김준우 · 김정효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인공지능융합공학부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SELF-RAG 기반 법률 사건 Q&amp;A 챗봇 — 최종 발표</dc:title>
  <dc:subject>PptxGenJS Presentation</dc:subject>
  <dc:creator>강우현, 김준우, 김정효</dc:creator>
  <cp:lastModifiedBy>강우현, 김준우, 김정효</cp:lastModifiedBy>
  <cp:revision>1</cp:revision>
  <dcterms:created xsi:type="dcterms:W3CDTF">2026-06-07T08:15:31Z</dcterms:created>
  <dcterms:modified xsi:type="dcterms:W3CDTF">2026-06-07T08:15:31Z</dcterms:modified>
</cp:coreProperties>
</file>