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Oswald Bold" charset="1" panose="00000800000000000000"/>
      <p:regular r:id="rId15"/>
    </p:embeddedFont>
    <p:embeddedFont>
      <p:font typeface="DM Sans" charset="1" panose="00000000000000000000"/>
      <p:regular r:id="rId16"/>
    </p:embeddedFont>
    <p:embeddedFont>
      <p:font typeface="DM Sans Bold" charset="1" panose="0000000000000000000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2.png" Type="http://schemas.openxmlformats.org/officeDocument/2006/relationships/image"/><Relationship Id="rId8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3.png" Type="http://schemas.openxmlformats.org/officeDocument/2006/relationships/image"/><Relationship Id="rId4" Target="../media/image1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2.png" Type="http://schemas.openxmlformats.org/officeDocument/2006/relationships/image"/><Relationship Id="rId8" Target="../media/image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2.png" Type="http://schemas.openxmlformats.org/officeDocument/2006/relationships/image"/><Relationship Id="rId8" Target="../media/image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2.png" Type="http://schemas.openxmlformats.org/officeDocument/2006/relationships/image"/><Relationship Id="rId8" Target="../media/image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15.png" Type="http://schemas.openxmlformats.org/officeDocument/2006/relationships/image"/><Relationship Id="rId6" Target="../media/image1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7659121">
            <a:off x="15091031" y="5585714"/>
            <a:ext cx="7629294" cy="7828566"/>
          </a:xfrm>
          <a:custGeom>
            <a:avLst/>
            <a:gdLst/>
            <a:ahLst/>
            <a:cxnLst/>
            <a:rect r="r" b="b" t="t" l="l"/>
            <a:pathLst>
              <a:path h="7828566" w="7629294">
                <a:moveTo>
                  <a:pt x="0" y="0"/>
                </a:moveTo>
                <a:lnTo>
                  <a:pt x="7629294" y="0"/>
                </a:lnTo>
                <a:lnTo>
                  <a:pt x="7629294" y="7828566"/>
                </a:lnTo>
                <a:lnTo>
                  <a:pt x="0" y="7828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258071" y="-4629150"/>
            <a:ext cx="9022634" cy="9258300"/>
          </a:xfrm>
          <a:custGeom>
            <a:avLst/>
            <a:gdLst/>
            <a:ahLst/>
            <a:cxnLst/>
            <a:rect r="r" b="b" t="t" l="l"/>
            <a:pathLst>
              <a:path h="9258300" w="9022634">
                <a:moveTo>
                  <a:pt x="0" y="0"/>
                </a:moveTo>
                <a:lnTo>
                  <a:pt x="9022634" y="0"/>
                </a:lnTo>
                <a:lnTo>
                  <a:pt x="9022634" y="9258300"/>
                </a:lnTo>
                <a:lnTo>
                  <a:pt x="0" y="92583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236347" y="3039068"/>
            <a:ext cx="9815307" cy="4208864"/>
            <a:chOff x="0" y="0"/>
            <a:chExt cx="1895495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95495" cy="812800"/>
            </a:xfrm>
            <a:custGeom>
              <a:avLst/>
              <a:gdLst/>
              <a:ahLst/>
              <a:cxnLst/>
              <a:rect r="r" b="b" t="t" l="l"/>
              <a:pathLst>
                <a:path h="812800" w="1895495">
                  <a:moveTo>
                    <a:pt x="0" y="0"/>
                  </a:moveTo>
                  <a:lnTo>
                    <a:pt x="1895495" y="0"/>
                  </a:lnTo>
                  <a:lnTo>
                    <a:pt x="1895495" y="812800"/>
                  </a:lnTo>
                  <a:lnTo>
                    <a:pt x="0" y="812800"/>
                  </a:lnTo>
                  <a:close/>
                </a:path>
              </a:pathLst>
            </a:custGeom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895495" cy="8318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4236347" y="4501896"/>
            <a:ext cx="9815307" cy="857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00"/>
              </a:lnSpc>
            </a:pPr>
            <a:r>
              <a:rPr lang="en-US" b="true" sz="5000" spc="490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인공지능서비스개발 중간 발표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36347" y="7367200"/>
            <a:ext cx="9815307" cy="5364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16"/>
              </a:lnSpc>
            </a:pPr>
            <a:r>
              <a:rPr lang="en-US" b="true" sz="3200" spc="313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강우현, 김준우, 김정효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659121">
            <a:off x="-4012602" y="5585714"/>
            <a:ext cx="7629294" cy="7828566"/>
          </a:xfrm>
          <a:custGeom>
            <a:avLst/>
            <a:gdLst/>
            <a:ahLst/>
            <a:cxnLst/>
            <a:rect r="r" b="b" t="t" l="l"/>
            <a:pathLst>
              <a:path h="7828566" w="7629294">
                <a:moveTo>
                  <a:pt x="0" y="0"/>
                </a:moveTo>
                <a:lnTo>
                  <a:pt x="7629294" y="0"/>
                </a:lnTo>
                <a:lnTo>
                  <a:pt x="7629294" y="7828566"/>
                </a:lnTo>
                <a:lnTo>
                  <a:pt x="0" y="78285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980992" y="3556399"/>
            <a:ext cx="1400485" cy="5402009"/>
            <a:chOff x="0" y="0"/>
            <a:chExt cx="368852" cy="142275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68852" cy="1422751"/>
            </a:xfrm>
            <a:custGeom>
              <a:avLst/>
              <a:gdLst/>
              <a:ahLst/>
              <a:cxnLst/>
              <a:rect r="r" b="b" t="t" l="l"/>
              <a:pathLst>
                <a:path h="1422751" w="368852">
                  <a:moveTo>
                    <a:pt x="0" y="0"/>
                  </a:moveTo>
                  <a:lnTo>
                    <a:pt x="368852" y="0"/>
                  </a:lnTo>
                  <a:lnTo>
                    <a:pt x="368852" y="1422751"/>
                  </a:lnTo>
                  <a:lnTo>
                    <a:pt x="0" y="1422751"/>
                  </a:ln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368852" cy="14418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980992" y="1036994"/>
            <a:ext cx="7416941" cy="16837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774"/>
              </a:lnSpc>
            </a:pPr>
            <a:r>
              <a:rPr lang="en-US" b="true" sz="9981" spc="978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CONTENT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2016048">
            <a:off x="12243487" y="-1005305"/>
            <a:ext cx="10749463" cy="2687366"/>
          </a:xfrm>
          <a:custGeom>
            <a:avLst/>
            <a:gdLst/>
            <a:ahLst/>
            <a:cxnLst/>
            <a:rect r="r" b="b" t="t" l="l"/>
            <a:pathLst>
              <a:path h="2687366" w="10749463">
                <a:moveTo>
                  <a:pt x="0" y="0"/>
                </a:moveTo>
                <a:lnTo>
                  <a:pt x="10749463" y="0"/>
                </a:lnTo>
                <a:lnTo>
                  <a:pt x="10749463" y="2687365"/>
                </a:lnTo>
                <a:lnTo>
                  <a:pt x="0" y="2687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193025" y="3879886"/>
            <a:ext cx="937219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26"/>
              </a:lnSpc>
            </a:pPr>
            <a:r>
              <a:rPr lang="en-US" b="true" sz="4271" i="true">
                <a:solidFill>
                  <a:srgbClr val="363636"/>
                </a:solidFill>
                <a:latin typeface="Oswald Bold"/>
                <a:ea typeface="Oswald Bold"/>
                <a:cs typeface="Oswald Bold"/>
                <a:sym typeface="Oswald Bold"/>
              </a:rPr>
              <a:t>01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193025" y="4677006"/>
            <a:ext cx="937219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26"/>
              </a:lnSpc>
            </a:pPr>
            <a:r>
              <a:rPr lang="en-US" b="true" sz="4271" i="true">
                <a:solidFill>
                  <a:srgbClr val="363636"/>
                </a:solidFill>
                <a:latin typeface="Oswald Bold"/>
                <a:ea typeface="Oswald Bold"/>
                <a:cs typeface="Oswald Bold"/>
                <a:sym typeface="Oswald Bold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193025" y="5558163"/>
            <a:ext cx="937219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26"/>
              </a:lnSpc>
            </a:pPr>
            <a:r>
              <a:rPr lang="en-US" b="true" sz="4271" i="true">
                <a:solidFill>
                  <a:srgbClr val="363636"/>
                </a:solidFill>
                <a:latin typeface="Oswald Bold"/>
                <a:ea typeface="Oswald Bold"/>
                <a:cs typeface="Oswald Bold"/>
                <a:sym typeface="Oswald Bold"/>
              </a:rPr>
              <a:t>03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193025" y="6355282"/>
            <a:ext cx="937219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26"/>
              </a:lnSpc>
            </a:pPr>
            <a:r>
              <a:rPr lang="en-US" b="true" sz="4271" i="true">
                <a:solidFill>
                  <a:srgbClr val="363636"/>
                </a:solidFill>
                <a:latin typeface="Oswald Bold"/>
                <a:ea typeface="Oswald Bold"/>
                <a:cs typeface="Oswald Bold"/>
                <a:sym typeface="Oswald Bold"/>
              </a:rPr>
              <a:t>04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212626" y="7147659"/>
            <a:ext cx="937219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26"/>
              </a:lnSpc>
            </a:pPr>
            <a:r>
              <a:rPr lang="en-US" b="true" sz="4271" i="true">
                <a:solidFill>
                  <a:srgbClr val="363636"/>
                </a:solidFill>
                <a:latin typeface="Oswald Bold"/>
                <a:ea typeface="Oswald Bold"/>
                <a:cs typeface="Oswald Bold"/>
                <a:sym typeface="Oswald Bold"/>
              </a:rPr>
              <a:t>05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212626" y="7978623"/>
            <a:ext cx="937219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26"/>
              </a:lnSpc>
            </a:pPr>
            <a:r>
              <a:rPr lang="en-US" b="true" sz="4271" i="true">
                <a:solidFill>
                  <a:srgbClr val="363636"/>
                </a:solidFill>
                <a:latin typeface="Oswald Bold"/>
                <a:ea typeface="Oswald Bold"/>
                <a:cs typeface="Oswald Bold"/>
                <a:sym typeface="Oswald Bold"/>
              </a:rPr>
              <a:t>06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569102" y="3929548"/>
            <a:ext cx="5790503" cy="545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16"/>
              </a:lnSpc>
            </a:pPr>
            <a:r>
              <a:rPr lang="en-US" sz="3200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프로젝트 개요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569102" y="4780321"/>
            <a:ext cx="6076629" cy="545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16"/>
              </a:lnSpc>
            </a:pPr>
            <a:r>
              <a:rPr lang="en-US" sz="3200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시스템 설계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569102" y="5585214"/>
            <a:ext cx="5790503" cy="545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16"/>
              </a:lnSpc>
              <a:spcBef>
                <a:spcPct val="0"/>
              </a:spcBef>
            </a:pPr>
            <a:r>
              <a:rPr lang="en-US" sz="3200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기술 스택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569102" y="6455037"/>
            <a:ext cx="6076629" cy="545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16"/>
              </a:lnSpc>
              <a:spcBef>
                <a:spcPct val="0"/>
              </a:spcBef>
            </a:pPr>
            <a:r>
              <a:rPr lang="en-US" sz="3200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UI 계획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569102" y="7324860"/>
            <a:ext cx="6076629" cy="545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16"/>
              </a:lnSpc>
              <a:spcBef>
                <a:spcPct val="0"/>
              </a:spcBef>
            </a:pPr>
            <a:r>
              <a:rPr lang="en-US" sz="3200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개발 방법의 우수성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569102" y="8089875"/>
            <a:ext cx="5790503" cy="545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16"/>
              </a:lnSpc>
              <a:spcBef>
                <a:spcPct val="0"/>
              </a:spcBef>
            </a:pPr>
            <a:r>
              <a:rPr lang="en-US" sz="3200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성능 평가 방법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66262" y="6101928"/>
            <a:ext cx="16193038" cy="1714856"/>
          </a:xfrm>
          <a:custGeom>
            <a:avLst/>
            <a:gdLst/>
            <a:ahLst/>
            <a:cxnLst/>
            <a:rect r="r" b="b" t="t" l="l"/>
            <a:pathLst>
              <a:path h="1714856" w="16193038">
                <a:moveTo>
                  <a:pt x="0" y="0"/>
                </a:moveTo>
                <a:lnTo>
                  <a:pt x="16193038" y="0"/>
                </a:lnTo>
                <a:lnTo>
                  <a:pt x="16193038" y="1714857"/>
                </a:lnTo>
                <a:lnTo>
                  <a:pt x="0" y="17148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86495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066262" y="3113454"/>
            <a:ext cx="15955743" cy="5723826"/>
            <a:chOff x="0" y="0"/>
            <a:chExt cx="3682024" cy="132085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682024" cy="1320858"/>
            </a:xfrm>
            <a:custGeom>
              <a:avLst/>
              <a:gdLst/>
              <a:ahLst/>
              <a:cxnLst/>
              <a:rect r="r" b="b" t="t" l="l"/>
              <a:pathLst>
                <a:path h="1320858" w="3682024">
                  <a:moveTo>
                    <a:pt x="0" y="0"/>
                  </a:moveTo>
                  <a:lnTo>
                    <a:pt x="3682024" y="0"/>
                  </a:lnTo>
                  <a:lnTo>
                    <a:pt x="3682024" y="1320858"/>
                  </a:lnTo>
                  <a:lnTo>
                    <a:pt x="0" y="1320858"/>
                  </a:lnTo>
                  <a:close/>
                </a:path>
              </a:pathLst>
            </a:custGeom>
            <a:solidFill>
              <a:srgbClr val="EFEFE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3682024" cy="13399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644239" y="5161176"/>
            <a:ext cx="1604697" cy="1628382"/>
          </a:xfrm>
          <a:custGeom>
            <a:avLst/>
            <a:gdLst/>
            <a:ahLst/>
            <a:cxnLst/>
            <a:rect r="r" b="b" t="t" l="l"/>
            <a:pathLst>
              <a:path h="1628382" w="1604697">
                <a:moveTo>
                  <a:pt x="0" y="0"/>
                </a:moveTo>
                <a:lnTo>
                  <a:pt x="1604696" y="0"/>
                </a:lnTo>
                <a:lnTo>
                  <a:pt x="1604696" y="1628382"/>
                </a:lnTo>
                <a:lnTo>
                  <a:pt x="0" y="16283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66262" y="914400"/>
            <a:ext cx="15955743" cy="117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59"/>
              </a:lnSpc>
            </a:pPr>
            <a:r>
              <a:rPr lang="en-US" b="true" sz="6999" spc="685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프로젝트 개요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045224" y="3388449"/>
            <a:ext cx="12597261" cy="57184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6808" indent="-323404" lvl="1">
              <a:lnSpc>
                <a:spcPts val="4134"/>
              </a:lnSpc>
              <a:buFont typeface="Arial"/>
              <a:buChar char="•"/>
            </a:pPr>
            <a:r>
              <a:rPr lang="en-US" sz="2995" spc="29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일반 시민은 법률 사건 발생 시 전문 지식이 부족해</a:t>
            </a:r>
            <a:r>
              <a:rPr lang="en-US" sz="2995" spc="29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당황하기 쉽다.</a:t>
            </a:r>
          </a:p>
          <a:p>
            <a:pPr algn="l">
              <a:lnSpc>
                <a:spcPts val="4134"/>
              </a:lnSpc>
            </a:pPr>
          </a:p>
          <a:p>
            <a:pPr algn="l" marL="646808" indent="-323404" lvl="1">
              <a:lnSpc>
                <a:spcPts val="4134"/>
              </a:lnSpc>
              <a:buFont typeface="Arial"/>
              <a:buChar char="•"/>
            </a:pPr>
            <a:r>
              <a:rPr lang="en-US" sz="2995" spc="29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기존 LLM은</a:t>
            </a:r>
            <a:r>
              <a:rPr lang="en-US" sz="2995" spc="29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할루시네이션(hallucination)</a:t>
            </a:r>
            <a:r>
              <a:rPr lang="en-US" sz="2995" spc="29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위험이 높고,</a:t>
            </a:r>
            <a:r>
              <a:rPr lang="en-US" sz="2995" spc="29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최신 법령 반영이 어렵다.</a:t>
            </a:r>
          </a:p>
          <a:p>
            <a:pPr algn="l">
              <a:lnSpc>
                <a:spcPts val="4134"/>
              </a:lnSpc>
            </a:pPr>
          </a:p>
          <a:p>
            <a:pPr algn="l" marL="646808" indent="-323404" lvl="1">
              <a:lnSpc>
                <a:spcPts val="4134"/>
              </a:lnSpc>
              <a:buFont typeface="Arial"/>
              <a:buChar char="•"/>
            </a:pPr>
            <a:r>
              <a:rPr lang="en-US" sz="2995" spc="29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Self-RAG 기법을 적용해 검색 필요성 판단 → 관련 문서 검색 → 관련성 필터링 → 답변 생성 과정을 통해 신뢰도를 크게 향상시킨다.</a:t>
            </a:r>
          </a:p>
          <a:p>
            <a:pPr algn="l">
              <a:lnSpc>
                <a:spcPts val="4134"/>
              </a:lnSpc>
            </a:pPr>
          </a:p>
          <a:p>
            <a:pPr algn="l" marL="646808" indent="-323404" lvl="1">
              <a:lnSpc>
                <a:spcPts val="4134"/>
              </a:lnSpc>
              <a:buFont typeface="Arial"/>
              <a:buChar char="•"/>
            </a:pPr>
            <a:r>
              <a:rPr lang="en-US" sz="2995" spc="29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목표: 일반인이 사건 직후에도 정확한 법률 정보를 빠르게 확인하고, 적절한 초기 대처를 할 수 있도록 지원한다.</a:t>
            </a:r>
          </a:p>
          <a:p>
            <a:pPr algn="l" marL="0" indent="0" lvl="0">
              <a:lnSpc>
                <a:spcPts val="4372"/>
              </a:lnSpc>
              <a:spcBef>
                <a:spcPct val="0"/>
              </a:spcBef>
            </a:pP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-2779578" y="7341318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994936" y="7891202"/>
            <a:ext cx="1268693" cy="1211025"/>
          </a:xfrm>
          <a:custGeom>
            <a:avLst/>
            <a:gdLst/>
            <a:ahLst/>
            <a:cxnLst/>
            <a:rect r="r" b="b" t="t" l="l"/>
            <a:pathLst>
              <a:path h="1211025" w="1268693">
                <a:moveTo>
                  <a:pt x="0" y="0"/>
                </a:moveTo>
                <a:lnTo>
                  <a:pt x="1268693" y="0"/>
                </a:lnTo>
                <a:lnTo>
                  <a:pt x="1268693" y="1211025"/>
                </a:lnTo>
                <a:lnTo>
                  <a:pt x="0" y="12110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106315" y="7936159"/>
            <a:ext cx="1104804" cy="1121111"/>
          </a:xfrm>
          <a:custGeom>
            <a:avLst/>
            <a:gdLst/>
            <a:ahLst/>
            <a:cxnLst/>
            <a:rect r="r" b="b" t="t" l="l"/>
            <a:pathLst>
              <a:path h="1121111" w="1104804">
                <a:moveTo>
                  <a:pt x="0" y="0"/>
                </a:moveTo>
                <a:lnTo>
                  <a:pt x="1104805" y="0"/>
                </a:lnTo>
                <a:lnTo>
                  <a:pt x="1104805" y="1121111"/>
                </a:lnTo>
                <a:lnTo>
                  <a:pt x="0" y="112111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590737" y="388159"/>
            <a:ext cx="11552977" cy="1166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587"/>
              </a:lnSpc>
            </a:pPr>
            <a:r>
              <a:rPr lang="en-US" b="true" sz="6947" spc="368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시스템 설계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479722" y="-4833750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4176364">
            <a:off x="-4105129" y="6530238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6"/>
                </a:lnTo>
                <a:lnTo>
                  <a:pt x="0" y="781549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590737" y="2414851"/>
            <a:ext cx="13106525" cy="6642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사용자 사건 설명 / 질문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       ↓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[1] 법률 문서 검색 필요 여부 판단 (LLM Router)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   ├─ No  → 일반 LLM 답변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   └─ Yes ↓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[2] FAISS 벡터DB에서 법률 문서 검색 (Top-K)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       ↓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[3] 검색된 문서에 대한 법률 관련성 필터링 (Relevance Filter)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       ↓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[4] 관련 문서별로 개별 법률 답변 생성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       ↓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[5] 답변들의 Self-Consistency / Supportiveness 평가</a:t>
            </a:r>
          </a:p>
          <a:p>
            <a:pPr algn="l">
              <a:lnSpc>
                <a:spcPts val="3779"/>
              </a:lnSpc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       ↓</a:t>
            </a:r>
          </a:p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sz="2738" spc="268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[6] 최종 답변 종합 + 출처 인용 제공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3086100"/>
            <a:chOff x="0" y="0"/>
            <a:chExt cx="481659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812800"/>
            </a:xfrm>
            <a:custGeom>
              <a:avLst/>
              <a:gdLst/>
              <a:ahLst/>
              <a:cxnLst/>
              <a:rect r="r" b="b" t="t" l="l"/>
              <a:pathLst>
                <a:path h="81280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A1A1A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4816593" cy="8318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3451022" y="-4729397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2851369" y="-3442596"/>
            <a:ext cx="6709932" cy="6885191"/>
          </a:xfrm>
          <a:custGeom>
            <a:avLst/>
            <a:gdLst/>
            <a:ahLst/>
            <a:cxnLst/>
            <a:rect r="r" b="b" t="t" l="l"/>
            <a:pathLst>
              <a:path h="6885191" w="6709932">
                <a:moveTo>
                  <a:pt x="0" y="0"/>
                </a:moveTo>
                <a:lnTo>
                  <a:pt x="6709932" y="0"/>
                </a:lnTo>
                <a:lnTo>
                  <a:pt x="6709932" y="6885192"/>
                </a:lnTo>
                <a:lnTo>
                  <a:pt x="0" y="68851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2887123" y="2260465"/>
          <a:ext cx="12513754" cy="7239000"/>
        </p:xfrm>
        <a:graphic>
          <a:graphicData uri="http://schemas.openxmlformats.org/drawingml/2006/table">
            <a:tbl>
              <a:tblPr/>
              <a:tblGrid>
                <a:gridCol w="2904367"/>
                <a:gridCol w="4604324"/>
                <a:gridCol w="5005063"/>
              </a:tblGrid>
              <a:tr h="80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 b="true">
                          <a:solidFill>
                            <a:srgbClr val="000000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구분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 b="true">
                          <a:solidFill>
                            <a:srgbClr val="000000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비고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기술 스택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LLM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OpenAI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GPT-4o / GPT-4o-mini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임베딩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OpenAI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text-embedding-3-large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벡터 DB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속도 ㆍ 경량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FAISS (로컬 저장/로드)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프레임워크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RAG 파이프라인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LangChain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RAG 전략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핵심 차별점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Self-RAG (6단계)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Memory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최근 5턴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ConversationBufferWindowMemory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UI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웹 챗봇 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Streamlit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평가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Ground Truth 12개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RAGAS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9" id="9"/>
          <p:cNvSpPr txBox="true"/>
          <p:nvPr/>
        </p:nvSpPr>
        <p:spPr>
          <a:xfrm rot="0">
            <a:off x="3690980" y="287052"/>
            <a:ext cx="10906040" cy="1349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82"/>
              </a:lnSpc>
            </a:pPr>
            <a:r>
              <a:rPr lang="en-US" b="true" sz="8030" spc="786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기술 스택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994936" y="7891202"/>
            <a:ext cx="1268693" cy="1211025"/>
          </a:xfrm>
          <a:custGeom>
            <a:avLst/>
            <a:gdLst/>
            <a:ahLst/>
            <a:cxnLst/>
            <a:rect r="r" b="b" t="t" l="l"/>
            <a:pathLst>
              <a:path h="1211025" w="1268693">
                <a:moveTo>
                  <a:pt x="0" y="0"/>
                </a:moveTo>
                <a:lnTo>
                  <a:pt x="1268693" y="0"/>
                </a:lnTo>
                <a:lnTo>
                  <a:pt x="1268693" y="1211025"/>
                </a:lnTo>
                <a:lnTo>
                  <a:pt x="0" y="12110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106315" y="7936159"/>
            <a:ext cx="1104804" cy="1121111"/>
          </a:xfrm>
          <a:custGeom>
            <a:avLst/>
            <a:gdLst/>
            <a:ahLst/>
            <a:cxnLst/>
            <a:rect r="r" b="b" t="t" l="l"/>
            <a:pathLst>
              <a:path h="1121111" w="1104804">
                <a:moveTo>
                  <a:pt x="0" y="0"/>
                </a:moveTo>
                <a:lnTo>
                  <a:pt x="1104805" y="0"/>
                </a:lnTo>
                <a:lnTo>
                  <a:pt x="1104805" y="1121111"/>
                </a:lnTo>
                <a:lnTo>
                  <a:pt x="0" y="112111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308968" y="630696"/>
            <a:ext cx="11552977" cy="1165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87"/>
              </a:lnSpc>
            </a:pPr>
            <a:r>
              <a:rPr lang="en-US" b="true" sz="6947" spc="368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UI 계획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479722" y="-4833750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4176364">
            <a:off x="-4105129" y="6530238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6"/>
                </a:lnTo>
                <a:lnTo>
                  <a:pt x="0" y="781549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2592031"/>
            <a:ext cx="15304183" cy="6666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메인 화면: 사이드바에</a:t>
            </a: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법률 문서 업로드 기능 (PDF)</a:t>
            </a:r>
          </a:p>
          <a:p>
            <a:pPr algn="l">
              <a:lnSpc>
                <a:spcPts val="4412"/>
              </a:lnSpc>
            </a:pP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채팅</a:t>
            </a: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인터페이스:</a:t>
            </a:r>
          </a:p>
          <a:p>
            <a:pPr algn="l" marL="1380793" indent="-460264" lvl="2">
              <a:lnSpc>
                <a:spcPts val="4412"/>
              </a:lnSpc>
              <a:buFont typeface="Arial"/>
              <a:buChar char="⚬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사용자</a:t>
            </a: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입력 창</a:t>
            </a:r>
          </a:p>
          <a:p>
            <a:pPr algn="l" marL="1380793" indent="-460264" lvl="2">
              <a:lnSpc>
                <a:spcPts val="4412"/>
              </a:lnSpc>
              <a:buFont typeface="Arial"/>
              <a:buChar char="⚬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AI 답변 (답변 + 근거 문서 인용)</a:t>
            </a:r>
          </a:p>
          <a:p>
            <a:pPr algn="l" marL="1380793" indent="-460264" lvl="2">
              <a:lnSpc>
                <a:spcPts val="4412"/>
              </a:lnSpc>
              <a:buFont typeface="Arial"/>
              <a:buChar char="⚬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다크</a:t>
            </a: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테마 적용 (법률 서비스의 전문성 강조)</a:t>
            </a:r>
          </a:p>
          <a:p>
            <a:pPr algn="l">
              <a:lnSpc>
                <a:spcPts val="4412"/>
              </a:lnSpc>
            </a:pP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추가 기능:</a:t>
            </a:r>
          </a:p>
          <a:p>
            <a:pPr algn="l" marL="1380793" indent="-460264" lvl="2">
              <a:lnSpc>
                <a:spcPts val="4412"/>
              </a:lnSpc>
              <a:buFont typeface="Arial"/>
              <a:buChar char="⚬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대화 기록 유지</a:t>
            </a:r>
          </a:p>
          <a:p>
            <a:pPr algn="l" marL="1380793" indent="-460264" lvl="2">
              <a:lnSpc>
                <a:spcPts val="4412"/>
              </a:lnSpc>
              <a:buFont typeface="Arial"/>
              <a:buChar char="⚬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답변 신뢰도 표시 (Self-RAG 평가 점수)</a:t>
            </a:r>
          </a:p>
          <a:p>
            <a:pPr algn="l" marL="1380793" indent="-460264" lvl="2">
              <a:lnSpc>
                <a:spcPts val="4412"/>
              </a:lnSpc>
              <a:buFont typeface="Arial"/>
              <a:buChar char="⚬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면책</a:t>
            </a: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 고지 상시 노출</a:t>
            </a:r>
          </a:p>
          <a:p>
            <a:pPr algn="l" marL="0" indent="0" lvl="0">
              <a:lnSpc>
                <a:spcPts val="4412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994936" y="7891202"/>
            <a:ext cx="1268693" cy="1211025"/>
          </a:xfrm>
          <a:custGeom>
            <a:avLst/>
            <a:gdLst/>
            <a:ahLst/>
            <a:cxnLst/>
            <a:rect r="r" b="b" t="t" l="l"/>
            <a:pathLst>
              <a:path h="1211025" w="1268693">
                <a:moveTo>
                  <a:pt x="0" y="0"/>
                </a:moveTo>
                <a:lnTo>
                  <a:pt x="1268693" y="0"/>
                </a:lnTo>
                <a:lnTo>
                  <a:pt x="1268693" y="1211025"/>
                </a:lnTo>
                <a:lnTo>
                  <a:pt x="0" y="12110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106315" y="7936159"/>
            <a:ext cx="1104804" cy="1121111"/>
          </a:xfrm>
          <a:custGeom>
            <a:avLst/>
            <a:gdLst/>
            <a:ahLst/>
            <a:cxnLst/>
            <a:rect r="r" b="b" t="t" l="l"/>
            <a:pathLst>
              <a:path h="1121111" w="1104804">
                <a:moveTo>
                  <a:pt x="0" y="0"/>
                </a:moveTo>
                <a:lnTo>
                  <a:pt x="1104805" y="0"/>
                </a:lnTo>
                <a:lnTo>
                  <a:pt x="1104805" y="1121111"/>
                </a:lnTo>
                <a:lnTo>
                  <a:pt x="0" y="112111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308968" y="630696"/>
            <a:ext cx="11552977" cy="1165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87"/>
              </a:lnSpc>
            </a:pPr>
            <a:r>
              <a:rPr lang="en-US" b="true" sz="6947" spc="368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개발 방법의 우수성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479722" y="-4833750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4176364">
            <a:off x="-4105129" y="6530238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6"/>
                </a:lnTo>
                <a:lnTo>
                  <a:pt x="0" y="781549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2418228"/>
            <a:ext cx="16230600" cy="6110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법률 특화 — 법률·판례 PDF를 직접 업로드해 최신 법령 반영 가능</a:t>
            </a:r>
          </a:p>
          <a:p>
            <a:pPr algn="l">
              <a:lnSpc>
                <a:spcPts val="4412"/>
              </a:lnSpc>
            </a:pP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할루시네이션 최소화 — 지원도(Supportiveness) 평가를 통해 근거가 부족한 답변 제어</a:t>
            </a:r>
          </a:p>
          <a:p>
            <a:pPr algn="l">
              <a:lnSpc>
                <a:spcPts val="4412"/>
              </a:lnSpc>
            </a:pP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실용성 — 사건 발생 즉시 사용할 수 있는 빠른 응답 속도 (FAISS 로컬 벡터DB)</a:t>
            </a:r>
          </a:p>
          <a:p>
            <a:pPr algn="l">
              <a:lnSpc>
                <a:spcPts val="4412"/>
              </a:lnSpc>
            </a:pP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투명성 — 모든 답변에 출처(법률 조항)를 명시</a:t>
            </a:r>
          </a:p>
          <a:p>
            <a:pPr algn="l">
              <a:lnSpc>
                <a:spcPts val="4412"/>
              </a:lnSpc>
            </a:pPr>
          </a:p>
          <a:p>
            <a:pPr algn="l">
              <a:lnSpc>
                <a:spcPts val="4412"/>
              </a:lnSpc>
            </a:pPr>
          </a:p>
          <a:p>
            <a:pPr algn="l">
              <a:lnSpc>
                <a:spcPts val="4412"/>
              </a:lnSpc>
              <a:spcBef>
                <a:spcPct val="0"/>
              </a:spcBef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※ LangChain + Self-RAG + RAGAS를 조합한 체계적인 RAG 파이프라인 구축 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994936" y="7891202"/>
            <a:ext cx="1268693" cy="1211025"/>
          </a:xfrm>
          <a:custGeom>
            <a:avLst/>
            <a:gdLst/>
            <a:ahLst/>
            <a:cxnLst/>
            <a:rect r="r" b="b" t="t" l="l"/>
            <a:pathLst>
              <a:path h="1211025" w="1268693">
                <a:moveTo>
                  <a:pt x="0" y="0"/>
                </a:moveTo>
                <a:lnTo>
                  <a:pt x="1268693" y="0"/>
                </a:lnTo>
                <a:lnTo>
                  <a:pt x="1268693" y="1211025"/>
                </a:lnTo>
                <a:lnTo>
                  <a:pt x="0" y="12110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106315" y="7936159"/>
            <a:ext cx="1104804" cy="1121111"/>
          </a:xfrm>
          <a:custGeom>
            <a:avLst/>
            <a:gdLst/>
            <a:ahLst/>
            <a:cxnLst/>
            <a:rect r="r" b="b" t="t" l="l"/>
            <a:pathLst>
              <a:path h="1121111" w="1104804">
                <a:moveTo>
                  <a:pt x="0" y="0"/>
                </a:moveTo>
                <a:lnTo>
                  <a:pt x="1104805" y="0"/>
                </a:lnTo>
                <a:lnTo>
                  <a:pt x="1104805" y="1121111"/>
                </a:lnTo>
                <a:lnTo>
                  <a:pt x="0" y="112111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388970"/>
            <a:ext cx="11552977" cy="1165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87"/>
              </a:lnSpc>
            </a:pPr>
            <a:r>
              <a:rPr lang="en-US" b="true" sz="6947" spc="368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성능 평가 방법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479722" y="-4833750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4176364">
            <a:off x="-4105129" y="6530238"/>
            <a:ext cx="7616557" cy="7815497"/>
          </a:xfrm>
          <a:custGeom>
            <a:avLst/>
            <a:gdLst/>
            <a:ahLst/>
            <a:cxnLst/>
            <a:rect r="r" b="b" t="t" l="l"/>
            <a:pathLst>
              <a:path h="7815497" w="7616557">
                <a:moveTo>
                  <a:pt x="0" y="0"/>
                </a:moveTo>
                <a:lnTo>
                  <a:pt x="7616556" y="0"/>
                </a:lnTo>
                <a:lnTo>
                  <a:pt x="7616556" y="7815496"/>
                </a:lnTo>
                <a:lnTo>
                  <a:pt x="0" y="781549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2035973"/>
            <a:ext cx="16230600" cy="7222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12"/>
              </a:lnSpc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RAGAS 프레임워크를 활용한 정량적 평가</a:t>
            </a:r>
          </a:p>
          <a:p>
            <a:pPr algn="l">
              <a:lnSpc>
                <a:spcPts val="4412"/>
              </a:lnSpc>
            </a:pPr>
          </a:p>
          <a:p>
            <a:pPr algn="l">
              <a:lnSpc>
                <a:spcPts val="4412"/>
              </a:lnSpc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주요 평가 지표:</a:t>
            </a: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Faithfulness (신뢰성): 생성된 답변이 제공된 문서에 얼마나 충실한가</a:t>
            </a: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Answer Relevancy (답변 관련성): 질문에 얼마나 직접적으로 답하는가</a:t>
            </a: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Context Precision (맥락 정밀도): 검색된 문서 중 실제로 유용한 문서의 비율</a:t>
            </a: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Context Recall (맥락 재현율): 정답에 필요한 모든 정보를 검색했는가</a:t>
            </a:r>
          </a:p>
          <a:p>
            <a:pPr algn="l">
              <a:lnSpc>
                <a:spcPts val="4412"/>
              </a:lnSpc>
            </a:pPr>
          </a:p>
          <a:p>
            <a:pPr algn="l">
              <a:lnSpc>
                <a:spcPts val="4412"/>
              </a:lnSpc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평가 방법:</a:t>
            </a: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Ground Truth 12개 질문-정답 쌍 준비</a:t>
            </a: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ragas_eval.py 스크립트 실행으로 자동 평가</a:t>
            </a:r>
          </a:p>
          <a:p>
            <a:pPr algn="l" marL="690397" indent="-345198" lvl="1">
              <a:lnSpc>
                <a:spcPts val="4412"/>
              </a:lnSpc>
              <a:buFont typeface="Arial"/>
              <a:buChar char="•"/>
            </a:pPr>
            <a:r>
              <a:rPr lang="en-US" sz="3197" spc="313">
                <a:solidFill>
                  <a:srgbClr val="231F20"/>
                </a:solidFill>
                <a:latin typeface="DM Sans"/>
                <a:ea typeface="DM Sans"/>
                <a:cs typeface="DM Sans"/>
                <a:sym typeface="DM Sans"/>
              </a:rPr>
              <a:t>Self-RAG 적용 전/후 비교 분석</a:t>
            </a:r>
          </a:p>
          <a:p>
            <a:pPr algn="l">
              <a:lnSpc>
                <a:spcPts val="4412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580377">
            <a:off x="12420356" y="-10209431"/>
            <a:ext cx="24036383" cy="24664199"/>
          </a:xfrm>
          <a:custGeom>
            <a:avLst/>
            <a:gdLst/>
            <a:ahLst/>
            <a:cxnLst/>
            <a:rect r="r" b="b" t="t" l="l"/>
            <a:pathLst>
              <a:path h="24664199" w="24036383">
                <a:moveTo>
                  <a:pt x="0" y="0"/>
                </a:moveTo>
                <a:lnTo>
                  <a:pt x="24036383" y="0"/>
                </a:lnTo>
                <a:lnTo>
                  <a:pt x="24036383" y="24664199"/>
                </a:lnTo>
                <a:lnTo>
                  <a:pt x="0" y="2466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708554" y="3441556"/>
            <a:ext cx="8097687" cy="3241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015"/>
              </a:lnSpc>
              <a:spcBef>
                <a:spcPct val="0"/>
              </a:spcBef>
            </a:pPr>
            <a:r>
              <a:rPr lang="en-US" b="true" sz="9431" spc="924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THANK'S FOR WATCHING</a:t>
            </a:r>
          </a:p>
        </p:txBody>
      </p:sp>
      <p:sp>
        <p:nvSpPr>
          <p:cNvPr name="Freeform 5" id="5"/>
          <p:cNvSpPr/>
          <p:nvPr/>
        </p:nvSpPr>
        <p:spPr>
          <a:xfrm flipH="true" flipV="false" rot="0">
            <a:off x="-4254153" y="7476061"/>
            <a:ext cx="11881594" cy="3564478"/>
          </a:xfrm>
          <a:custGeom>
            <a:avLst/>
            <a:gdLst/>
            <a:ahLst/>
            <a:cxnLst/>
            <a:rect r="r" b="b" t="t" l="l"/>
            <a:pathLst>
              <a:path h="3564478" w="11881594">
                <a:moveTo>
                  <a:pt x="11881594" y="0"/>
                </a:moveTo>
                <a:lnTo>
                  <a:pt x="0" y="0"/>
                </a:lnTo>
                <a:lnTo>
                  <a:pt x="0" y="3564478"/>
                </a:lnTo>
                <a:lnTo>
                  <a:pt x="11881594" y="3564478"/>
                </a:lnTo>
                <a:lnTo>
                  <a:pt x="1188159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DAHK7YsxYgE</dc:identifier>
  <dcterms:modified xsi:type="dcterms:W3CDTF">2011-08-01T06:04:30Z</dcterms:modified>
  <cp:revision>1</cp:revision>
  <dc:title>인공지능서비스개발 중간 발표</dc:title>
</cp:coreProperties>
</file>