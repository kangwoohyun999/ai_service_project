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swald Bold" charset="1" panose="000008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36347" y="3039068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36347" y="3915728"/>
            <a:ext cx="9815307" cy="236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b="true" sz="5000" spc="49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인공지능서비스개발 중간 발표</a:t>
            </a:r>
          </a:p>
          <a:p>
            <a:pPr algn="ctr">
              <a:lnSpc>
                <a:spcPts val="6900"/>
              </a:lnSpc>
            </a:pPr>
          </a:p>
          <a:p>
            <a:pPr algn="ctr">
              <a:lnSpc>
                <a:spcPts val="4830"/>
              </a:lnSpc>
            </a:pPr>
            <a:r>
              <a:rPr lang="en-US" b="true" sz="3500" spc="34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SELF-RAG 기반 법률 사건 Q&amp;A 챗봇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347" y="7367200"/>
            <a:ext cx="9815307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6"/>
              </a:lnSpc>
            </a:pPr>
            <a:r>
              <a:rPr lang="en-US" b="true" sz="3200" spc="31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강우현, 김준우, 김정효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0992" y="3556399"/>
            <a:ext cx="1400485" cy="5402009"/>
            <a:chOff x="0" y="0"/>
            <a:chExt cx="368852" cy="14227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422751"/>
            </a:xfrm>
            <a:custGeom>
              <a:avLst/>
              <a:gdLst/>
              <a:ahLst/>
              <a:cxnLst/>
              <a:rect r="r" b="b" t="t" l="l"/>
              <a:pathLst>
                <a:path h="1422751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422751"/>
                  </a:lnTo>
                  <a:lnTo>
                    <a:pt x="0" y="1422751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441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0369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93025" y="387988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3025" y="467700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3025" y="555816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3025" y="6355282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2626" y="7147659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2626" y="797862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9102" y="3929548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프로젝트 개요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102" y="4780321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시스템 설계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9102" y="5585214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기술 스택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69102" y="6455037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UI 계획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9102" y="7324860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개발 방법의 우수성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9102" y="8089875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성능 평가 방법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62" y="6101928"/>
            <a:ext cx="16193038" cy="1714856"/>
          </a:xfrm>
          <a:custGeom>
            <a:avLst/>
            <a:gdLst/>
            <a:ahLst/>
            <a:cxnLst/>
            <a:rect r="r" b="b" t="t" l="l"/>
            <a:pathLst>
              <a:path h="1714856" w="16193038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6262" y="3113454"/>
            <a:ext cx="15955743" cy="5723826"/>
            <a:chOff x="0" y="0"/>
            <a:chExt cx="3682024" cy="1320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2024" cy="1320858"/>
            </a:xfrm>
            <a:custGeom>
              <a:avLst/>
              <a:gdLst/>
              <a:ahLst/>
              <a:cxnLst/>
              <a:rect r="r" b="b" t="t" l="l"/>
              <a:pathLst>
                <a:path h="1320858" w="3682024">
                  <a:moveTo>
                    <a:pt x="0" y="0"/>
                  </a:moveTo>
                  <a:lnTo>
                    <a:pt x="3682024" y="0"/>
                  </a:lnTo>
                  <a:lnTo>
                    <a:pt x="3682024" y="1320858"/>
                  </a:lnTo>
                  <a:lnTo>
                    <a:pt x="0" y="1320858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82024" cy="1339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44239" y="5161176"/>
            <a:ext cx="1604697" cy="1628382"/>
          </a:xfrm>
          <a:custGeom>
            <a:avLst/>
            <a:gdLst/>
            <a:ahLst/>
            <a:cxnLst/>
            <a:rect r="r" b="b" t="t" l="l"/>
            <a:pathLst>
              <a:path h="1628382" w="1604697">
                <a:moveTo>
                  <a:pt x="0" y="0"/>
                </a:moveTo>
                <a:lnTo>
                  <a:pt x="1604696" y="0"/>
                </a:lnTo>
                <a:lnTo>
                  <a:pt x="1604696" y="1628382"/>
                </a:lnTo>
                <a:lnTo>
                  <a:pt x="0" y="1628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262" y="914400"/>
            <a:ext cx="1595574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999" spc="685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프로젝트 개요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5224" y="3388449"/>
            <a:ext cx="12597261" cy="571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일반 시민은 법률 사건 발생 시 전문 지식이 부족해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당황하기 쉽다.</a:t>
            </a:r>
          </a:p>
          <a:p>
            <a:pPr algn="l">
              <a:lnSpc>
                <a:spcPts val="4134"/>
              </a:lnSpc>
            </a:pPr>
          </a:p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기존 LLM은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할루시네이션(hallucination)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위험이 높고,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최신 법령 반영이 어렵다.</a:t>
            </a:r>
          </a:p>
          <a:p>
            <a:pPr algn="l">
              <a:lnSpc>
                <a:spcPts val="4134"/>
              </a:lnSpc>
            </a:pPr>
          </a:p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Self-RAG 기법을 적용해 검색 필요성 판단 → 관련 문서 검색 → 관련성 필터링 → 답변 생성 과정을 통해 신뢰도를 크게 향상시킨다.</a:t>
            </a:r>
          </a:p>
          <a:p>
            <a:pPr algn="l">
              <a:lnSpc>
                <a:spcPts val="4134"/>
              </a:lnSpc>
            </a:pPr>
          </a:p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목표: 일반인이 사건 직후에도 정확한 법률 정보를 빠르게 확인하고, 적절한 초기 대처를 할 수 있도록 지원한다.</a:t>
            </a:r>
          </a:p>
          <a:p>
            <a:pPr algn="l" marL="0" indent="0" lvl="0">
              <a:lnSpc>
                <a:spcPts val="4372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90737" y="388159"/>
            <a:ext cx="11552977" cy="116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시스템 설계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90737" y="2414851"/>
            <a:ext cx="13106525" cy="664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사용자 사건 설명 / 질문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[1] 법률 문서 검색 필요 여부 판단 (LLM Router)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├─ No  → 일반 LLM 답변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└─ Yes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[2] FAISS 벡터DB에서 법률 문서 검색 (Top-K)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[3] 검색된 문서에 대한 법률 관련성 필터링 (Relevance Filter)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[4] 관련 문서별로 개별 법률 답변 생성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[5] 답변들의 Self-Consistency / Supportiveness 평가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[6] 최종 답변 종합 + 출처 인용 제공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887123" y="2260465"/>
          <a:ext cx="12513754" cy="7239000"/>
        </p:xfrm>
        <a:graphic>
          <a:graphicData uri="http://schemas.openxmlformats.org/drawingml/2006/table">
            <a:tbl>
              <a:tblPr/>
              <a:tblGrid>
                <a:gridCol w="2904367"/>
                <a:gridCol w="4604324"/>
                <a:gridCol w="5005063"/>
              </a:tblGrid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비고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기술 스택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GPT-4o / GPT-4o-mini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임베딩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text-embedding-3-large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벡터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속도 ㆍ 경량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FAISS (로컬 저장/로드)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프레임워크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 파이프라인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LangChain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 전략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핵심 차별점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Self-RAG (6단계)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최근 5턴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ConversationBufferWindowMemory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웹 챗봇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Streamlit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평가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Ground Truth 12개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690980" y="28705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기술 스택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8968" y="630696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UI 계획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592031"/>
            <a:ext cx="15304183" cy="666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메인 화면: 사이드바에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법률 문서 업로드 기능 (PDF)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채팅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인터페이스: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사용자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입력 창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AI 답변 (답변 + 근거 문서 인용)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다크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테마 적용 (법률 서비스의 전문성 강조)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추가 기능: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대화 기록 유지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답변 신뢰도 표시 (Self-RAG 평가 점수)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면책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고지 상시 노출</a:t>
            </a:r>
          </a:p>
          <a:p>
            <a:pPr algn="l" marL="0" indent="0" lvl="0">
              <a:lnSpc>
                <a:spcPts val="44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8968" y="630696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개발 방법의 우수성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418228"/>
            <a:ext cx="16230600" cy="611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법률 특화 — 법률·판례 PDF를 직접 업로드해 최신 법령 반영 가능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할루시네이션 최소화 — 지원도(Supportiveness) 평가를 통해 근거가 부족한 답변 제어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실용성 — 사건 발생 즉시 사용할 수 있는 빠른 응답 속도 (FAISS 로컬 벡터DB)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투명성 — 모든 답변에 출처(법률 조항)를 명시</a:t>
            </a: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※ LangChain + Self-RAG + RAGAS를 조합한 체계적인 RAG 파이프라인 구축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970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성능 평가 방법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035973"/>
            <a:ext cx="16230600" cy="72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RAGAS 프레임워크를 활용한 정량적 평가</a:t>
            </a: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주요 평가 지표: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Faithfulness (신뢰성): 생성된 답변이 제공된 문서에 얼마나 충실한가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Answer Relevancy (답변 관련성): 질문에 얼마나 직접적으로 답하는가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Context Precision (맥락 정밀도): 검색된 문서 중 실제로 유용한 문서의 비율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Context Recall (맥락 재현율): 정답에 필요한 모든 정보를 검색했는가</a:t>
            </a: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평가 방법: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Ground Truth 12개 질문-정답 쌍 준비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ragas_eval.py 스크립트 실행으로 자동 평가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Self-RAG 적용 전/후 비교 분석</a:t>
            </a:r>
          </a:p>
          <a:p>
            <a:pPr algn="l">
              <a:lnSpc>
                <a:spcPts val="44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8554" y="3441556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DAHK7YsxYgE</dc:identifier>
  <dcterms:modified xsi:type="dcterms:W3CDTF">2011-08-01T06:04:30Z</dcterms:modified>
  <cp:revision>1</cp:revision>
  <dc:title>인공지능서비스개발 중간 발표</dc:title>
</cp:coreProperties>
</file>